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90" r:id="rId3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1" r:id="rId19"/>
    <p:sldId id="502" r:id="rId20"/>
    <p:sldId id="503" r:id="rId21"/>
    <p:sldId id="504" r:id="rId22"/>
    <p:sldId id="49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B8ABB3-3CD8-462B-964A-90C88F22725C}">
          <p14:sldIdLst>
            <p14:sldId id="490"/>
            <p14:sldId id="492"/>
            <p14:sldId id="49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B8D876-CF7A-FFDC-74D7-6CE3805B12FB}" name="ZONG Echo" initials="EZ" userId="S::echo2.zong@loreal.com::a4606cd9-98cc-4fff-8532-d79a801fde2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45FD"/>
    <a:srgbClr val="655EEB"/>
    <a:srgbClr val="6160EA"/>
    <a:srgbClr val="4C28E4"/>
    <a:srgbClr val="AEAAF2"/>
    <a:srgbClr val="C99AFE"/>
    <a:srgbClr val="B5A5F6"/>
    <a:srgbClr val="C79BFE"/>
    <a:srgbClr val="81AEEB"/>
    <a:srgbClr val="82A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1" autoAdjust="0"/>
    <p:restoredTop sz="94643"/>
  </p:normalViewPr>
  <p:slideViewPr>
    <p:cSldViewPr snapToGrid="0">
      <p:cViewPr varScale="1">
        <p:scale>
          <a:sx n="115" d="100"/>
          <a:sy n="115" d="100"/>
        </p:scale>
        <p:origin x="30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1370D-ABEB-425B-ADF0-7925AE0D2D0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AA396-8F27-4FE3-92B6-74EEBE285A5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6" name="图片 5" descr="连标"/>
            <p:cNvPicPr>
              <a:picLocks noChangeAspect="1"/>
            </p:cNvPicPr>
            <p:nvPr/>
          </p:nvPicPr>
          <p:blipFill>
            <a:blip r:embed="rId3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8" name="图片 7" descr="有意思连标"/>
            <p:cNvPicPr>
              <a:picLocks noChangeAspect="1"/>
            </p:cNvPicPr>
            <p:nvPr/>
          </p:nvPicPr>
          <p:blipFill>
            <a:blip r:embed="rId4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9" name="图片 8" descr="有意思连标"/>
            <p:cNvPicPr>
              <a:picLocks noChangeAspect="1"/>
            </p:cNvPicPr>
            <p:nvPr userDrawn="1"/>
          </p:nvPicPr>
          <p:blipFill>
            <a:blip r:embed="rId4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0" name="图片 9" descr="连标"/>
            <p:cNvPicPr>
              <a:picLocks noChangeAspect="1"/>
            </p:cNvPicPr>
            <p:nvPr userDrawn="1"/>
          </p:nvPicPr>
          <p:blipFill>
            <a:blip r:embed="rId3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  <p:pic>
        <p:nvPicPr>
          <p:cNvPr id="2" name="图片 1" descr="未标题-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rcRect t="90094"/>
          <a:stretch>
            <a:fillRect/>
          </a:stretch>
        </p:blipFill>
        <p:spPr>
          <a:xfrm>
            <a:off x="0" y="6176963"/>
            <a:ext cx="12192000" cy="6791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pic>
        <p:nvPicPr>
          <p:cNvPr id="3" name="图片 2" descr="未标题-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  <p:grpSp>
        <p:nvGrpSpPr>
          <p:cNvPr id="11" name="组合 10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12" name="图片 11" descr="连标"/>
            <p:cNvPicPr>
              <a:picLocks noChangeAspect="1"/>
            </p:cNvPicPr>
            <p:nvPr/>
          </p:nvPicPr>
          <p:blipFill>
            <a:blip r:embed="rId4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13" name="图片 12" descr="有意思连标"/>
            <p:cNvPicPr>
              <a:picLocks noChangeAspect="1"/>
            </p:cNvPicPr>
            <p:nvPr/>
          </p:nvPicPr>
          <p:blipFill>
            <a:blip r:embed="rId5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15" name="图片 14" descr="有意思连标"/>
            <p:cNvPicPr>
              <a:picLocks noChangeAspect="1"/>
            </p:cNvPicPr>
            <p:nvPr userDrawn="1"/>
          </p:nvPicPr>
          <p:blipFill>
            <a:blip r:embed="rId5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6" name="图片 15" descr="连标"/>
            <p:cNvPicPr>
              <a:picLocks noChangeAspect="1"/>
            </p:cNvPicPr>
            <p:nvPr userDrawn="1"/>
          </p:nvPicPr>
          <p:blipFill>
            <a:blip r:embed="rId4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58FFC-3A76-4D99-AB9F-7999D757834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7A21B9-1903-450D-A962-157248E63012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5673725" y="6530340"/>
            <a:ext cx="8763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900">
                <a:solidFill>
                  <a:srgbClr val="008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C1 - Internal use</a:t>
            </a:r>
            <a:endParaRPr lang="zh-CN" altLang="en-US" sz="900">
              <a:solidFill>
                <a:srgbClr val="008000">
                  <a:alpha val="5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3"/>
          <p:cNvSpPr txBox="1"/>
          <p:nvPr/>
        </p:nvSpPr>
        <p:spPr>
          <a:xfrm>
            <a:off x="1477182" y="2034216"/>
            <a:ext cx="92779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sz="5400" b="1">
                <a:solidFill>
                  <a:srgbClr val="FFFFFF"/>
                </a:solidFill>
                <a:latin typeface="Arial"/>
                <a:ea typeface="思源黑体 CN Bold"/>
              </a:rPr>
              <a:t>信任守护师</a:t>
            </a:r>
            <a:endParaRPr lang="zh-CN" altLang="en-US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  <a:p>
            <a:pPr>
              <a:spcBef>
                <a:spcPts val="1000"/>
              </a:spcBef>
            </a:pPr>
            <a:r>
              <a:rPr sz="3000" b="0">
                <a:solidFill>
                  <a:srgbClr val="FFFFFF"/>
                </a:solidFill>
                <a:latin typeface="Arial"/>
                <a:ea typeface="思源黑体 CN Light"/>
              </a:rPr>
              <a:t>让「眼见为实」重新变得可验证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FFFFFF"/>
                </a:solidFill>
                <a:latin typeface="Arial"/>
                <a:ea typeface="思源黑体 CN Light"/>
              </a:rPr>
              <a:t>赛题 2 · 美妆内容真实性核验　　队伍：噜噜大王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2"/>
          <p:cNvSpPr txBox="1"/>
          <p:nvPr/>
        </p:nvSpPr>
        <p:spPr>
          <a:xfrm>
            <a:off x="747" y="2659198"/>
            <a:ext cx="12190507" cy="186217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67740">
              <a:spcBef>
                <a:spcPts val="1060"/>
              </a:spcBef>
            </a:pPr>
            <a:r>
              <a:rPr lang="en-US" altLang="zh-CN" sz="72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  THANKS</a:t>
            </a:r>
            <a:r>
              <a:rPr lang="zh-CN" altLang="en-US" sz="72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！</a:t>
            </a:r>
            <a:endParaRPr lang="zh-CN" altLang="en-US" sz="7200" b="1" i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cs typeface="思源黑体 CN Bold" panose="020B08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作品背景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美妆内容正在变成「最不敢信」的一类内容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功效看不见、对比图最容易修、评论区最容易刷——三件事叠在同一个行业里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文案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「7 天白 3 个度」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AI 一分钟能写 20 篇，模板化文案已经是流水线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398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配图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局部磨皮 + 提亮 + 拼接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对比图是美妆内容的核心证据，也最容易被改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评论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200 条清一色好评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12 分钟内投放完毕，账号昵称是批量注册的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709160"/>
            <a:ext cx="10561320" cy="105156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8920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平台审核员每天面对这些内容，可用的工具却只有「举报」。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我们要给的不是一个概率，而是一条能申诉、能复核、能写进工单的证据。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作品背景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平台要的不是「像假的」，而是「凭什么」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常规 AIGC 检测器回答不了申诉，跨生成器还会掉点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FAFAFB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267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08088"/>
                </a:solidFill>
                <a:latin typeface="Arial"/>
                <a:ea typeface="思源黑体 CN Bold"/>
              </a:rPr>
              <a:t>常规做法：一个概率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审核员无法验证，也不敢据此下架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创作者无法申诉，只能反复吵架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跨生成器泛化差，模型一换就失灵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检测器本身在和生成器打军备竞赛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808088"/>
                </a:solidFill>
                <a:latin typeface="Arial"/>
                <a:ea typeface="思源黑体 CN Bold"/>
              </a:rPr>
              <a:t>「AIGC 概率 87%」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28816" y="2267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7A2E9B"/>
                </a:solidFill>
                <a:latin typeface="Arial"/>
                <a:ea typeface="思源黑体 CN Bold"/>
              </a:rPr>
              <a:t>我们的做法：一条证据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26974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每个结论挂载可核对的数值证据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篡改区域可视化，边界能放大看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不确定时主动降级，不硬给高分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直接输出可写入处置工单的违规条款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53136E"/>
                </a:solidFill>
                <a:latin typeface="Arial"/>
                <a:ea typeface="思源黑体 CN Bold"/>
              </a:rPr>
              <a:t>「这一块，凭什么」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5440680"/>
            <a:ext cx="10561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赛题原文：「可解释性完整度将作为方案可信度的重要评估依据」——这就是我们的技术主线。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F3F3F"/>
                </a:solidFill>
                <a:latin typeface="Arial"/>
                <a:ea typeface="思源黑体 CN Bold"/>
              </a:rPr>
              <a:t>五维证据链：像素 → 语义 → 行为 → 一致性 → 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单点证据会误报，多层互证才敢下结论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03120"/>
            <a:ext cx="1975104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7A2E9B"/>
                </a:solidFill>
                <a:latin typeface="Arial"/>
                <a:ea typeface="思源黑体 CN Bold"/>
              </a:rPr>
              <a:t>像素层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ELA 重压缩误差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噪声残差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高频细节缺失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频域幂律斜率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SIFT 拷贝-移动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6936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916936" y="2103120"/>
            <a:ext cx="1975104" cy="54864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5B3FA8"/>
                </a:solidFill>
                <a:latin typeface="Arial"/>
                <a:ea typeface="思源黑体 CN Bold"/>
              </a:rPr>
              <a:t>语义层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9 项文体特征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句长变异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连接词密度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信息具体度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模板短语密度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01768" y="2103120"/>
            <a:ext cx="1975104" cy="5486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B6E8C"/>
                </a:solidFill>
                <a:latin typeface="Arial"/>
                <a:ea typeface="思源黑体 CN Bold"/>
              </a:rPr>
              <a:t>行为层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模板簇聚类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短时爆发比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情感一致性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账号画像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昵称熵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86600" y="2103120"/>
            <a:ext cx="1975104" cy="54864"/>
          </a:xfrm>
          <a:prstGeom prst="rect">
            <a:avLst/>
          </a:prstGeom>
          <a:solidFill>
            <a:srgbClr val="1B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1192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B6E4A"/>
                </a:solidFill>
                <a:latin typeface="Arial"/>
                <a:ea typeface="思源黑体 CN Bold"/>
              </a:rPr>
              <a:t>一致性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CIELAB 色差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文案宣称赞数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夸大倍数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两图光照方向差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171432" y="2103120"/>
            <a:ext cx="1975104" cy="54864"/>
          </a:xfrm>
          <a:prstGeom prst="rect">
            <a:avLst/>
          </a:prstGeom>
          <a:solidFill>
            <a:srgbClr val="9A6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4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9A6213"/>
                </a:solidFill>
                <a:latin typeface="Arial"/>
                <a:ea typeface="思源黑体 CN Bold"/>
              </a:rPr>
              <a:t>规则层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《广告法》第九条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第二十八条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第十六条、第四十三条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" y="4754880"/>
            <a:ext cx="10561320" cy="123444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97280" y="4901184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融合规则：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加权融合后，≥2 路信号同区互证才定位；命中高危条款可直接抬到中风险；出现两条以上高危证据才升到高风险；覆盖不足则主动降级。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编排方式：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固定 DAG（场景识别 → 并行取证 → 融合定级 → 生成结论），不是自由 ReAct——演示现场不会出现循环调用与幻觉工具。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像素取证：把「修过」变成可以复算的数字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六项经典取证信号，全部 CPU 毫秒级，不需要训练模型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2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21.4%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区域噪声偏离全图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-4.6σ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高频细节低于周边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3368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ELA 重压缩误差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2248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43416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2–4s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单次分析耗时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6118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怎么算的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ELA：重新压缩后与原图求差，篡改区因压缩历史不同而出现台阶。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噪声残差：高通滤波后看块级方差，拼接会破坏传感器噪声的一致性。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磨皮：Laplacian 方差在 log 域做稳健 z 分数，只看「比周边更平滑」。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61188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7490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B02E2E"/>
                </a:solidFill>
                <a:latin typeface="Arial"/>
                <a:ea typeface="思源黑体 CN Bold"/>
              </a:rPr>
              <a:t>一个必须说清楚的问题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开发中发现 ELA 的稳健 z 分数在中位数退化时会除以 1e-6，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把亚灰阶波动放大成 z=876445，真实照片被误判成「重压缩台阶」。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补上绝对幅度闸门后，指标如实回落——见第 12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图文一致性：把「白三个度」换算成色差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肤色转到 CIELAB 空间，与文案宣称直接对照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642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B6E4A"/>
                </a:solidFill>
                <a:latin typeface="Arial"/>
                <a:ea typeface="思源黑体 CN Bold"/>
              </a:rPr>
              <a:t>ΔE = 3.81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两张图实测色差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398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1830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808088"/>
                </a:solidFill>
                <a:latin typeface="Arial"/>
                <a:ea typeface="思源黑体 CN Bold"/>
              </a:rPr>
              <a:t>ΔE ≈ 10.5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830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文案宣称折算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586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3018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B02E2E"/>
                </a:solidFill>
                <a:latin typeface="Arial"/>
                <a:ea typeface="思源黑体 CN Bold"/>
              </a:rPr>
              <a:t>2.75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018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夸大倍数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657600"/>
            <a:ext cx="10561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实测：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两图皮肤区域（YCbCr 肤色掩膜）平均 L*a*b* 距离。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宣称：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从文案抽取「白 N 个度」，按 1 个色号 ≈ ΔE 3.5 折算。这个换算系数写在文档里，评委可以自己复算。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4754880"/>
            <a:ext cx="5120640" cy="1097280"/>
          </a:xfrm>
          <a:prstGeom prst="roundRect">
            <a:avLst>
              <a:gd name="adj" fmla="val 6000"/>
            </a:avLst>
          </a:prstGeom>
          <a:solidFill>
            <a:srgbClr val="F2F9F5"/>
          </a:solidFill>
          <a:ln w="11430">
            <a:solidFill>
              <a:srgbClr val="B8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B6E4A"/>
                </a:solidFill>
                <a:latin typeface="Arial"/>
                <a:ea typeface="思源黑体 CN Bold"/>
              </a:rPr>
              <a:t>对照组 · 真实测评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无局部修改、文案无夸大 → 一致性 0.00，整体 低风险 14/100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54880"/>
            <a:ext cx="5120640" cy="109728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48920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B02E2E"/>
                </a:solidFill>
                <a:latin typeface="Arial"/>
                <a:ea typeface="思源黑体 CN Bold"/>
              </a:rPr>
              <a:t>实验组 · 高仿对比图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局部磨皮 + 提亮 + 拼接，宣称 3 个度 → 整体 高风险 87/100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评论区：不看单条评论，看「这批账号在做什么」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12 条同一模板的评论，8 分钟内投放完毕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2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12 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同一模板的评论簇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0.92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簇内平均相似度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3368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67%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落在同一 10 分钟窗口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2248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43416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6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批量注册形态账号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65760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三条线索互相印证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文本：字符 3-gram Jaccard + DBSCAN 聚类，同一模板会被归成一簇。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节奏：相邻间隔变异系数 + 10 分钟窗口占比，人不会这样发评论。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账号：昵称字符熵 + 注册时间聚集度，批量注册有稳定形态。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657600"/>
            <a:ext cx="5120640" cy="1874519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803904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2E9B"/>
                </a:solidFill>
                <a:latin typeface="Arial"/>
                <a:ea typeface="思源黑体 CN Bold"/>
              </a:rPr>
              <a:t>为什么判高风险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33087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模板簇 ≥5 条且相似度 ≥0.80，视为确证性证据，直接判高风险。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只满足时间集中或账号异常其中一项时，最多判中风险。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本次模板簇与投放节奏同时成立，且三路证据指向同一批账号。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合规规则：输出的不是概率，是能写进工单的条款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确定性规则，零算力、零幻觉，却是「落地价值」最直接的论据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21408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绝对化用语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494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「全网最低价」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23113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《广告法》第九条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231136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不得使用国家级、最高级、最佳等用语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" y="3054096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特殊化妆品未标批号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821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「美白」「祛斑」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16382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《化妆品监督管理条例》第十六条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63824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须标注国妆特字注册编号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3986783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1147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量化功效承诺缺乏依据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11479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「7 天白一个度」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096511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《化妆品功效宣称评价规范》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096511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功效宣称应有评价依据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919471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504748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宣称医疗作用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047487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「消炎」「药妆」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5029199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《化妆品监督管理条例》第四十三条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5029199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不得明示或暗示医疗作用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5897880"/>
            <a:ext cx="10561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规则引擎和五维取证是互补的：取证回答「图有没有动过」，规则回答「这话能不能说」。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种草图文核验：四维证据同时给出结论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模拟平台审核员视角：上传 → 出证据 → 出等级 → 出处置建议</a:t>
            </a:r>
          </a:p>
        </p:txBody>
      </p:sp>
      <p:pic>
        <p:nvPicPr>
          <p:cNvPr id="5" name="Picture 4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这一单为什么判 87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像素层：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21% 区域噪声偏离、细节 -4.6σ，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两项信号同区互证 → 局部重绘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一致性：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宣称 3 个色号（ΔE≈10.5），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实测仅 3.81，夸大 2.75 倍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合规层：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命中 3 条广告法规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（绝对化用语、特妆未标批号、量化承诺）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321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证据覆盖 100% · 耗时 3.4 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评论区核验：把 18 条评论还原成「一次投放」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粘贴评论（或导入 .txt/.md/.docx）→ 聚类 → 看节奏 → 定位账号</a:t>
            </a:r>
          </a:p>
        </p:txBody>
      </p:sp>
      <p:pic>
        <p:nvPicPr>
          <p:cNvPr id="5" name="Picture 4" descr="com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三条线索指向同一批账号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文本：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12 条评论同一模板，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平均相似度 0.92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节奏：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67% 挤在同一 10 分钟窗口，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其余散在随后 14 小时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账号：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6 个昵称呈批量注册形态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（英文 + 数字后缀）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321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结论：高风险 75/100，建议下架复核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AI 素材鉴伪：只有「成块的局部异常」才算证据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整幅均匀的平滑不计入——这条规则把误报压了下来</a:t>
            </a:r>
          </a:p>
        </p:txBody>
      </p:sp>
      <p:pic>
        <p:nvPicPr>
          <p:cNvPr id="5" name="Picture 4" descr="ma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单图怎么判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局部异常：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细节缺失 14%、噪声偏离 19%，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集中在一小块、周边保持原状 → 局部重绘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整图均匀：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平滑但不集中 → 不计入，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该判低风险就判低风险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80060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01000" y="4919472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B02E2E"/>
                </a:solidFill>
                <a:latin typeface="Arial"/>
                <a:ea typeface="思源黑体 CN Bold"/>
              </a:rPr>
              <a:t>如实说明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该模块在自建 100 条集上未表现出区分度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（F1=0.00），当前定位为辅助筛查。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测试数据包与评测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测试数据包：100 条，三场景 × 四档难度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赛题看的不只是跑分，而是这份数据本身经不经得起看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031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种草 40　·　评论 30　·　素材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真伪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786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伪造 56　·　真实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05409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easy 17　·　medium 31　·　hard 8　·　real 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95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标注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52958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24 张 mask.png（逐像素篡改区域）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五类伪造手法：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大面积磨皮+提亮 / 局部磨皮+拼接 / 轻度磨皮+拼接+重压缩 /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重度平滑+色彩拉伸（模拟 AIGC 重绘）/ 模板化评论+集中投放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每条样本可复现：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meta.txt 记录场景、真伪、难度、伪造方式；eval/run_eval.py 可重算全部指标。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03120"/>
            <a:ext cx="4983480" cy="141732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83680" y="2212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7A2E9B"/>
                </a:solidFill>
                <a:latin typeface="Arial"/>
                <a:ea typeface="思源黑体 CN Bold"/>
              </a:rPr>
              <a:t>自建 100 条集上的指标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51460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53136E"/>
                </a:solidFill>
                <a:latin typeface="Arial"/>
                <a:ea typeface="思源黑体 CN Bold"/>
              </a:rPr>
              <a:t>P 0.84　R 0.46　F1 0.60　定位 IoU 0.32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分场景 F1：图文 0.59　评论 0.97　素材 0.00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657600"/>
            <a:ext cx="4983480" cy="178308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83680" y="37673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B02E2E"/>
                </a:solidFill>
                <a:latin typeface="Arial"/>
                <a:ea typeface="思源黑体 CN Bold"/>
              </a:rPr>
              <a:t>一次如实记录的修复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6908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早期 F1 是 0.69，其中素材场景的检出来自 ELA 的 z 分数退化（z=876445）。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补上绝对幅度闸门后回落到 0.60——数字不好看，但它是真的。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素材场景因此只作辅助筛查，不作为独立结论。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未来完善方向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三条线把这个 Demo 变成平台能用的审核工具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先补检测能力，再扩场景，最后进工作流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1–3 个月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检测能力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接入开源预训练 AIGC 检测器做集成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引入 Qwen2.5-VL 做语义复核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用真实平台数据重新标定阈值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398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3–6 个月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场景扩展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从美妆扩到母婴、保健品等功效宣称密集品类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从图文扩到短视频关键帧核验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接入品牌真实色号库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6–12 个月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平台化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对接内容中台，做成审核工作流插件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证据包标准化，支持监管报送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申诉链路：创作者可自助复核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846320"/>
            <a:ext cx="10561320" cy="109728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现在就体验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在线演示（只读）：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https://lulu520-1314.github.io/trust-shield/</a:t>
            </a: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　　完整功能（可上传）：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https://trust-shield-xxxx.onrender.com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代码仓库：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https://github.com/lulu520-1314/trust-shield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思源黑体 CN Light</vt:lpstr>
      <vt:lpstr>思源黑体 CN Bold</vt:lpstr>
      <vt:lpstr>微软雅黑</vt:lpstr>
      <vt:lpstr>Arial Unicode MS</vt:lpstr>
      <vt:lpstr>等线 Light</vt:lpstr>
      <vt:lpstr>等线</vt:lpstr>
      <vt:lpstr>Office Theme</vt:lpstr>
      <vt:lpstr>PowerPoint 演示文稿</vt:lpstr>
      <vt:lpstr>PowerPoint 演示文稿</vt:lpstr>
      <vt:lpstr>PowerPoint 演示文稿</vt:lpstr>
    </vt:vector>
  </TitlesOfParts>
  <Company>LOREAL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ZONG Echo</dc:creator>
  <cp:lastModifiedBy>次鱼圆</cp:lastModifiedBy>
  <cp:revision>12</cp:revision>
  <dcterms:created xsi:type="dcterms:W3CDTF">2026-07-09T08:48:00Z</dcterms:created>
  <dcterms:modified xsi:type="dcterms:W3CDTF">2026-07-21T07:33:12Z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3b7177-c66c-4b22-a350-7ee86f9a1e74_Enabled">
    <vt:lpwstr>true</vt:lpwstr>
  </property>
  <property fmtid="{D5CDD505-2E9C-101B-9397-08002B2CF9AE}" pid="3" name="MSIP_Label_f43b7177-c66c-4b22-a350-7ee86f9a1e74_SetDate">
    <vt:lpwstr>2026-07-09T09:48:14Z</vt:lpwstr>
  </property>
  <property fmtid="{D5CDD505-2E9C-101B-9397-08002B2CF9AE}" pid="4" name="MSIP_Label_f43b7177-c66c-4b22-a350-7ee86f9a1e74_Method">
    <vt:lpwstr>Standard</vt:lpwstr>
  </property>
  <property fmtid="{D5CDD505-2E9C-101B-9397-08002B2CF9AE}" pid="5" name="MSIP_Label_f43b7177-c66c-4b22-a350-7ee86f9a1e74_Name">
    <vt:lpwstr>C1_Internal use</vt:lpwstr>
  </property>
  <property fmtid="{D5CDD505-2E9C-101B-9397-08002B2CF9AE}" pid="6" name="MSIP_Label_f43b7177-c66c-4b22-a350-7ee86f9a1e74_SiteId">
    <vt:lpwstr>e4e1abd9-eac7-4a71-ab52-da5c998aa7ba</vt:lpwstr>
  </property>
  <property fmtid="{D5CDD505-2E9C-101B-9397-08002B2CF9AE}" pid="7" name="MSIP_Label_f43b7177-c66c-4b22-a350-7ee86f9a1e74_ActionId">
    <vt:lpwstr>c71fc412-054f-4fbf-a9f7-cba62a6f36cf</vt:lpwstr>
  </property>
  <property fmtid="{D5CDD505-2E9C-101B-9397-08002B2CF9AE}" pid="8" name="MSIP_Label_f43b7177-c66c-4b22-a350-7ee86f9a1e74_ContentBits">
    <vt:lpwstr>2</vt:lpwstr>
  </property>
  <property fmtid="{D5CDD505-2E9C-101B-9397-08002B2CF9AE}" pid="9" name="MSIP_Label_f43b7177-c66c-4b22-a350-7ee86f9a1e74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C1 - Internal use</vt:lpwstr>
  </property>
  <property fmtid="{D5CDD505-2E9C-101B-9397-08002B2CF9AE}" pid="12" name="KSOProductBuildVer">
    <vt:lpwstr>2052-12.1.0.26381</vt:lpwstr>
  </property>
  <property fmtid="{D5CDD505-2E9C-101B-9397-08002B2CF9AE}" pid="13" name="ICV">
    <vt:lpwstr>30F01A577FCB47F4BE17C5D67A36E051_13</vt:lpwstr>
  </property>
</Properties>
</file>