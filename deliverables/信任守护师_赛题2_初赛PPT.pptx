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5D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5D39A"/>
                </a:solidFill>
                <a:latin typeface="Microsoft YaHei"/>
              </a:rPr>
              <a:t>欧莱雅第二届美妆科技黑客松 · 赛题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8778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5800" b="1">
                <a:solidFill>
                  <a:srgbClr val="E8EEFB"/>
                </a:solidFill>
                <a:latin typeface="Microsoft YaHei"/>
              </a:rPr>
              <a:t>信任守护师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9509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C9D8EF"/>
                </a:solidFill>
                <a:latin typeface="Microsoft YaHei"/>
              </a:rPr>
              <a:t>让「眼见为实」重新变得可验证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8961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8EA3C4"/>
                </a:solidFill>
                <a:latin typeface="Microsoft YaHei"/>
              </a:rPr>
              <a:t>一个基于像素级证据链的美妆内容核验 Agent：不只告诉你「像假的」，
而是告诉你「哪一块、凭什么、违反了哪一条」。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074920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193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1">
                <a:solidFill>
                  <a:srgbClr val="4DA3FF"/>
                </a:solidFill>
                <a:latin typeface="Microsoft YaHei"/>
              </a:rPr>
              <a:t>五维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5961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取证维度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0360" y="5074920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5193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1">
                <a:solidFill>
                  <a:srgbClr val="35D39A"/>
                </a:solidFill>
                <a:latin typeface="Microsoft YaHei"/>
              </a:rPr>
              <a:t>3 场景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55961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统一架构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5074920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5193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1">
                <a:solidFill>
                  <a:srgbClr val="FFB020"/>
                </a:solidFill>
                <a:latin typeface="Microsoft YaHei"/>
              </a:rPr>
              <a:t>&lt; 4s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55961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本地 CPU 推理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95160" y="5074920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5160" y="5193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1">
                <a:solidFill>
                  <a:srgbClr val="FF4D6D"/>
                </a:solidFill>
                <a:latin typeface="Microsoft YaHei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55961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证据可回溯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598932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5F7395"/>
                </a:solidFill>
                <a:latin typeface="Microsoft YaHei"/>
              </a:rPr>
              <a:t>2026.10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01  场景洞察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E8EEFB"/>
                </a:solidFill>
                <a:latin typeface="Microsoft YaHei"/>
              </a:rPr>
              <a:t>一条笔记，可能是 AI 写、AI 修、AI 刷出来的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515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8EA3C4"/>
                </a:solidFill>
                <a:latin typeface="Microsoft YaHei"/>
              </a:rPr>
              <a:t>美妆是内容信任危机最集中的行业：功效看不见、对比图最容易被修、评论区最容易被刷</a:t>
            </a:r>
          </a:p>
        </p:txBody>
      </p:sp>
      <p:pic>
        <p:nvPicPr>
          <p:cNvPr id="6" name="Picture 5" descr="hi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93392"/>
            <a:ext cx="6537960" cy="3886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26679" y="1874519"/>
            <a:ext cx="3794760" cy="123444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82127" y="2020824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4D6D"/>
                </a:solidFill>
                <a:latin typeface="Microsoft YaHei"/>
              </a:rPr>
              <a:t>文案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2127" y="2377439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8EF"/>
                </a:solidFill>
                <a:latin typeface="Microsoft YaHei"/>
              </a:rPr>
              <a:t>「7 天白 3 个度」——AI 一天能写 200 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3264408"/>
            <a:ext cx="3794760" cy="123444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2127" y="341071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B020"/>
                </a:solidFill>
                <a:latin typeface="Microsoft YaHei"/>
              </a:rPr>
              <a:t>配图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7" y="3767328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8EF"/>
                </a:solidFill>
                <a:latin typeface="Microsoft YaHei"/>
              </a:rPr>
              <a:t>对比图局部磨皮、提亮、拼接，肉眼难辨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4654296"/>
            <a:ext cx="3794760" cy="123444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2127" y="480060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4DA3FF"/>
                </a:solidFill>
                <a:latin typeface="Microsoft YaHei"/>
              </a:rPr>
              <a:t>评论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7" y="5157216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8EF"/>
                </a:solidFill>
                <a:latin typeface="Microsoft YaHei"/>
              </a:rPr>
              <a:t>200 条清一色好评，12 分钟内投放完毕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5532120"/>
            <a:ext cx="3794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F7395"/>
                </a:solidFill>
                <a:latin typeface="Microsoft YaHei"/>
              </a:rPr>
              <a:t>平台审核员每天面对这些内容，可用工具却只有「举报」。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信任守护师 · 欧莱雅第二届美妆科技黑客松 · 赛题2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02  为什么现有方案不够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E8EEFB"/>
                </a:solidFill>
                <a:latin typeface="Microsoft YaHei"/>
              </a:rPr>
              <a:t>平台要的不是一个概率，而是一条可以申诉的证据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5120640" cy="36118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5F7395"/>
                </a:solidFill>
                <a:latin typeface="Microsoft YaHei"/>
              </a:rPr>
              <a:t>常规做法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FF4D6D"/>
                </a:solidFill>
                <a:latin typeface="Microsoft YaHei"/>
              </a:rPr>
              <a:t>「AIGC 概率 87%」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45720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300" b="0">
                <a:solidFill>
                  <a:srgbClr val="8EA3C4"/>
                </a:solidFill>
                <a:latin typeface="Microsoft YaHei"/>
              </a:rPr>
              <a:t>· 审核员无法验证，也不敢据此下架
· 创作者无法申诉，只能反复吵架
· 跨生成器泛化差，模型一换就失灵
· 检测器本身就在和生成器打军备竞赛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83080"/>
            <a:ext cx="5193792" cy="3611880"/>
          </a:xfrm>
          <a:prstGeom prst="roundRect">
            <a:avLst>
              <a:gd name="adj" fmla="val 6000"/>
            </a:avLst>
          </a:prstGeom>
          <a:solidFill>
            <a:srgbClr val="0F221C"/>
          </a:solidFill>
          <a:ln w="9525">
            <a:solidFill>
              <a:srgbClr val="275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35D39A"/>
                </a:solidFill>
                <a:latin typeface="Microsoft YaHei"/>
              </a:rPr>
              <a:t>我们的做法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4231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35D39A"/>
                </a:solidFill>
                <a:latin typeface="Microsoft YaHei"/>
              </a:rPr>
              <a:t>「这一块，凭什么」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063240"/>
            <a:ext cx="47548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300" b="0">
                <a:solidFill>
                  <a:srgbClr val="B8D8CC"/>
                </a:solidFill>
                <a:latin typeface="Microsoft YaHei"/>
              </a:rPr>
              <a:t>· 每个结论挂载可核对的数值证据
· 篡改区域可视化，边界可以放大看
· 不确定时主动降级，而不是硬给高分
· 直接输出可写入处置工单的违规条款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5F7395"/>
                </a:solidFill>
                <a:latin typeface="Microsoft YaHei"/>
              </a:rPr>
              <a:t>赛题原文：「可解释性完整度将作为方案可信度的重要评估依据」——这就是我们的技术主线。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信任守护师 · 欧莱雅第二届美妆科技黑客松 · 赛题2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03  技术方案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E8EEFB"/>
                </a:solidFill>
                <a:latin typeface="Microsoft YaHei"/>
              </a:rPr>
              <a:t>五维证据链：像素 → 语义 → 行为 → 一致性 → 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515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8EA3C4"/>
                </a:solidFill>
                <a:latin typeface="Microsoft YaHei"/>
              </a:rPr>
              <a:t>单点证据会误报，多层互证才敢下结论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93392"/>
            <a:ext cx="1325880" cy="17830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993392"/>
            <a:ext cx="1325880" cy="64008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57984"/>
            <a:ext cx="1170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4DA3FF"/>
                </a:solidFill>
                <a:latin typeface="Microsoft YaHei"/>
              </a:rPr>
              <a:t>像素层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1188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EA3C4"/>
                </a:solidFill>
                <a:latin typeface="Microsoft YaHei"/>
              </a:rPr>
              <a:t>ELA 重压缩误差 · 噪声残差 · 高频细节缺失（磨皮）
频域幂律斜率 · SIFT 拷贝-移动 · EXIF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57984" y="1993392"/>
            <a:ext cx="1325880" cy="17830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57984" y="1993392"/>
            <a:ext cx="1325880" cy="64008"/>
          </a:xfrm>
          <a:prstGeom prst="rect">
            <a:avLst/>
          </a:prstGeom>
          <a:solidFill>
            <a:srgbClr val="7C6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9424" y="2157984"/>
            <a:ext cx="1170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7C6BF0"/>
                </a:solidFill>
                <a:latin typeface="Microsoft YaHei"/>
              </a:rPr>
              <a:t>语义层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9424" y="2560320"/>
            <a:ext cx="1188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EA3C4"/>
                </a:solidFill>
                <a:latin typeface="Microsoft YaHei"/>
              </a:rPr>
              <a:t>9 项文体特征：句长变异、连接词密度、信息具体度、
模板短语、用字丰富度…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30168" y="1993392"/>
            <a:ext cx="1325880" cy="17830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30168" y="1993392"/>
            <a:ext cx="1325880" cy="64008"/>
          </a:xfrm>
          <a:prstGeom prst="rect">
            <a:avLst/>
          </a:prstGeom>
          <a:solidFill>
            <a:srgbClr val="35D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1608" y="2157984"/>
            <a:ext cx="1170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35D39A"/>
                </a:solidFill>
                <a:latin typeface="Microsoft YaHei"/>
              </a:rPr>
              <a:t>行为层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1608" y="2560320"/>
            <a:ext cx="1188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EA3C4"/>
                </a:solidFill>
                <a:latin typeface="Microsoft YaHei"/>
              </a:rPr>
              <a:t>模板簇聚类 · 短时爆发比 · 情感一致性 ·
账号画像（昵称熵/注册聚集）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02352" y="1993392"/>
            <a:ext cx="1325880" cy="17830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02352" y="1993392"/>
            <a:ext cx="1325880" cy="64008"/>
          </a:xfrm>
          <a:prstGeom prst="rect">
            <a:avLst/>
          </a:prstGeom>
          <a:solidFill>
            <a:srgbClr val="3EC1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157984"/>
            <a:ext cx="1170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3EC1D8"/>
                </a:solidFill>
                <a:latin typeface="Microsoft YaHei"/>
              </a:rPr>
              <a:t>一致性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2560320"/>
            <a:ext cx="1188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EA3C4"/>
                </a:solidFill>
                <a:latin typeface="Microsoft YaHei"/>
              </a:rPr>
              <a:t>皮肤区 CIELAB 色差 vs 文案宣称
夸大倍数 · 两图光照方向差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1993392"/>
            <a:ext cx="1325880" cy="17830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74536" y="1993392"/>
            <a:ext cx="1325880" cy="64008"/>
          </a:xfrm>
          <a:prstGeom prst="rect">
            <a:avLst/>
          </a:prstGeom>
          <a:solidFill>
            <a:srgbClr val="FFB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5976" y="2157984"/>
            <a:ext cx="1170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FFB020"/>
                </a:solidFill>
                <a:latin typeface="Microsoft YaHei"/>
              </a:rPr>
              <a:t>规则层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5976" y="2560320"/>
            <a:ext cx="1188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EA3C4"/>
                </a:solidFill>
                <a:latin typeface="Microsoft YaHei"/>
              </a:rPr>
              <a:t>《广告法》第九条、第二十八条
《化妆品监督管理条例》
第十六条、第四十三条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1993392"/>
            <a:ext cx="3383280" cy="1783080"/>
          </a:xfrm>
          <a:prstGeom prst="roundRect">
            <a:avLst>
              <a:gd name="adj" fmla="val 6000"/>
            </a:avLst>
          </a:prstGeom>
          <a:solidFill>
            <a:srgbClr val="1A160E"/>
          </a:solidFill>
          <a:ln w="9525">
            <a:solidFill>
              <a:srgbClr val="5A44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FFB020"/>
                </a:solidFill>
                <a:latin typeface="Microsoft YaHei"/>
              </a:rPr>
              <a:t>证据融合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542032"/>
            <a:ext cx="3017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00" b="0">
                <a:solidFill>
                  <a:srgbClr val="D8C8A8"/>
                </a:solidFill>
                <a:latin typeface="Microsoft YaHei"/>
              </a:rPr>
              <a:t>加权融合 + 多信号互证
确证性证据直接升级
覆盖不足自动降级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4041648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0F1A2B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224528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8EA3C4"/>
                </a:solidFill>
                <a:latin typeface="Microsoft YaHei"/>
              </a:rPr>
              <a:t>输出：</a:t>
            </a:r>
            <a:r>
              <a:rPr sz="1300" b="1">
                <a:solidFill>
                  <a:srgbClr val="E8EEFB"/>
                </a:solidFill>
                <a:latin typeface="Microsoft YaHei"/>
              </a:rPr>
              <a:t>风险分级（高/中/低）</a:t>
            </a:r>
            <a:r>
              <a:rPr sz="1300" b="0">
                <a:solidFill>
                  <a:srgbClr val="5F7395"/>
                </a:solidFill>
                <a:latin typeface="Microsoft YaHei"/>
              </a:rPr>
              <a:t>  ·  </a:t>
            </a:r>
            <a:r>
              <a:rPr sz="1300" b="1">
                <a:solidFill>
                  <a:srgbClr val="E8EEFB"/>
                </a:solidFill>
                <a:latin typeface="Microsoft YaHei"/>
              </a:rPr>
              <a:t>判据清单</a:t>
            </a:r>
            <a:r>
              <a:rPr sz="1300" b="0">
                <a:solidFill>
                  <a:srgbClr val="5F7395"/>
                </a:solidFill>
                <a:latin typeface="Microsoft YaHei"/>
              </a:rPr>
              <a:t>  ·  </a:t>
            </a:r>
            <a:r>
              <a:rPr sz="1300" b="1">
                <a:solidFill>
                  <a:srgbClr val="E8EEFB"/>
                </a:solidFill>
                <a:latin typeface="Microsoft YaHei"/>
              </a:rPr>
              <a:t>篡改区域热力图</a:t>
            </a:r>
            <a:r>
              <a:rPr sz="1300" b="0">
                <a:solidFill>
                  <a:srgbClr val="5F7395"/>
                </a:solidFill>
                <a:latin typeface="Microsoft YaHei"/>
              </a:rPr>
              <a:t>  ·  </a:t>
            </a:r>
            <a:r>
              <a:rPr sz="1300" b="1">
                <a:solidFill>
                  <a:srgbClr val="E8EEFB"/>
                </a:solidFill>
                <a:latin typeface="Microsoft YaHei"/>
              </a:rPr>
              <a:t>违规条款引用</a:t>
            </a:r>
            <a:r>
              <a:rPr sz="1300" b="0">
                <a:solidFill>
                  <a:srgbClr val="5F7395"/>
                </a:solidFill>
                <a:latin typeface="Microsoft YaHei"/>
              </a:rPr>
              <a:t>  ·  </a:t>
            </a:r>
            <a:r>
              <a:rPr sz="1300" b="1">
                <a:solidFill>
                  <a:srgbClr val="E8EEFB"/>
                </a:solidFill>
                <a:latin typeface="Microsoft YaHei"/>
              </a:rPr>
              <a:t>处置建议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1023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8EA3C4"/>
                </a:solidFill>
                <a:latin typeface="Microsoft YaHei"/>
              </a:rPr>
              <a:t>固定 DAG 编排（非自由 ReAct）：场景识别 → 并行取证 → 融合定级 → 生成结论，演示现场不会出现循环调用、幻觉工具、耗时不可控。
为什么不上大模型做判定：黑盒模型给不出可核对的数值证据，跨生成器泛化也差；本项目坚持「每个结论都能反推」，大模型（Qwen2.5-VL）放在第二期做语义复核。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信任守护师 · 欧莱雅第二届美妆科技黑客松 · 赛题2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04  能力演示 · 像素层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E8EEFB"/>
                </a:solidFill>
                <a:latin typeface="Microsoft YaHei"/>
              </a:rPr>
              <a:t>篡改区域定位：热图落在磨皮的地方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515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8EA3C4"/>
                </a:solidFill>
                <a:latin typeface="Microsoft YaHei"/>
              </a:rPr>
              <a:t>系统自己找到区域、自己画出边界，并给出每个维度的数值</a:t>
            </a:r>
          </a:p>
        </p:txBody>
      </p:sp>
      <p:pic>
        <p:nvPicPr>
          <p:cNvPr id="6" name="Picture 5" descr="hi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75104"/>
            <a:ext cx="7360920" cy="43708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66760" y="1975104"/>
            <a:ext cx="3108960" cy="4370832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205740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噪声残差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33172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B020"/>
                </a:solidFill>
                <a:latin typeface="Microsoft YaHei"/>
              </a:rPr>
              <a:t>21.4% 区域异常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0632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高频细节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3375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4D6D"/>
                </a:solidFill>
                <a:latin typeface="Microsoft YaHei"/>
              </a:rPr>
              <a:t>-4.6σ 低于周边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406908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重压缩误差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43434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4D6D"/>
                </a:solidFill>
                <a:latin typeface="Microsoft YaHei"/>
              </a:rPr>
              <a:t>z = 9.33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507492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图文色差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53492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4D6D"/>
                </a:solidFill>
                <a:latin typeface="Microsoft YaHei"/>
              </a:rPr>
              <a:t>ΔE 3.81 vs 宣称 10.5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71500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单次分析 2–4 秒
纯 CPU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信任守护师 · 欧莱雅第二届美妆科技黑客松 · 赛题2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05  能力演示 · 图文一致性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E8EEFB"/>
                </a:solidFill>
                <a:latin typeface="Microsoft YaHei"/>
              </a:rPr>
              <a:t>把「美白三个度」换算成可以复算的数字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515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8EA3C4"/>
                </a:solidFill>
                <a:latin typeface="Microsoft YaHei"/>
              </a:rPr>
              <a:t>肤色转到 CIELAB 空间测色差，与文案宣称直接对照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3520440" cy="10972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66543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实测色差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35D39A"/>
                </a:solidFill>
                <a:latin typeface="Microsoft YaHei"/>
              </a:rPr>
              <a:t>ΔE = 3.81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56816"/>
            <a:ext cx="3520440" cy="10972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66543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文案宣称折算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37744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FF4D6D"/>
                </a:solidFill>
                <a:latin typeface="Microsoft YaHei"/>
              </a:rPr>
              <a:t>ΔE ≈ 10.5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956816"/>
            <a:ext cx="3383280" cy="1097280"/>
          </a:xfrm>
          <a:prstGeom prst="roundRect">
            <a:avLst>
              <a:gd name="adj" fmla="val 6000"/>
            </a:avLst>
          </a:prstGeom>
          <a:solidFill>
            <a:srgbClr val="2A1218"/>
          </a:solidFill>
          <a:ln w="9525">
            <a:solidFill>
              <a:srgbClr val="6B22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066543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夸大倍数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377440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FF4D6D"/>
                </a:solidFill>
                <a:latin typeface="Microsoft YaHei"/>
              </a:rPr>
              <a:t>2.75 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31012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200" b="0">
                <a:solidFill>
                  <a:srgbClr val="8EA3C4"/>
                </a:solidFill>
                <a:latin typeface="Microsoft YaHei"/>
              </a:rPr>
              <a:t>实测：两图皮肤区域平均 L*a*b* 差的欧氏距离。宣称：从文案抽取「白 N 个度」，按一个色号 ≈ ΔE 3.5 折算。
这不是「我觉得像假的」，而是一个可以拿给创作者看的数字。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370832"/>
            <a:ext cx="5257800" cy="1600200"/>
          </a:xfrm>
          <a:prstGeom prst="roundRect">
            <a:avLst>
              <a:gd name="adj" fmla="val 6000"/>
            </a:avLst>
          </a:prstGeom>
          <a:solidFill>
            <a:srgbClr val="0F221C"/>
          </a:solidFill>
          <a:ln w="9525">
            <a:solidFill>
              <a:srgbClr val="275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498848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35D39A"/>
                </a:solidFill>
                <a:latin typeface="Microsoft YaHei"/>
              </a:rPr>
              <a:t>对照组：真实测评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82896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00" b="0">
                <a:solidFill>
                  <a:srgbClr val="B8D8CC"/>
                </a:solidFill>
                <a:latin typeface="Microsoft YaHei"/>
              </a:rPr>
              <a:t>同一场景、无局部修改、文案无夸大
→ 图文一致性 0.00，整体 低风险 0.14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370832"/>
            <a:ext cx="5166360" cy="1600200"/>
          </a:xfrm>
          <a:prstGeom prst="roundRect">
            <a:avLst>
              <a:gd name="adj" fmla="val 6000"/>
            </a:avLst>
          </a:prstGeom>
          <a:solidFill>
            <a:srgbClr val="2A1218"/>
          </a:solidFill>
          <a:ln w="9525">
            <a:solidFill>
              <a:srgbClr val="6B22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449884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FF4D6D"/>
                </a:solidFill>
                <a:latin typeface="Microsoft YaHei"/>
              </a:rPr>
              <a:t>实验组：高仿对比图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882896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00" b="0">
                <a:solidFill>
                  <a:srgbClr val="E0B8C0"/>
                </a:solidFill>
                <a:latin typeface="Microsoft YaHei"/>
              </a:rPr>
              <a:t>局部磨皮 + 提亮 + 拼接，文案宣称 3 个度
→ 整体 高风险 0.87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信任守护师 · 欧莱雅第二届美妆科技黑客松 · 赛题2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06  能力演示 · 评论区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E8EEFB"/>
                </a:solidFill>
                <a:latin typeface="Microsoft YaHei"/>
              </a:rPr>
              <a:t>不看单条评论，看「这批账号在做什么」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515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8EA3C4"/>
                </a:solidFill>
                <a:latin typeface="Microsoft YaHei"/>
              </a:rPr>
              <a:t>12 条同一模板的评论，8 分钟内投放完毕</a:t>
            </a:r>
          </a:p>
        </p:txBody>
      </p:sp>
      <p:pic>
        <p:nvPicPr>
          <p:cNvPr id="6" name="Picture 5" descr="com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75104"/>
            <a:ext cx="7360920" cy="43708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49640" y="1828800"/>
            <a:ext cx="2926080" cy="4507992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0" y="2057400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模板簇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33172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4D6D"/>
                </a:solidFill>
                <a:latin typeface="Microsoft YaHei"/>
              </a:rPr>
              <a:t>12 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063240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平均相似度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333756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4D6D"/>
                </a:solidFill>
                <a:latin typeface="Microsoft YaHei"/>
              </a:rPr>
              <a:t>0.92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069080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短时爆发比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434340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B020"/>
                </a:solidFill>
                <a:latin typeface="Microsoft YaHei"/>
              </a:rPr>
              <a:t>67%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074920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F7395"/>
                </a:solidFill>
                <a:latin typeface="Microsoft YaHei"/>
              </a:rPr>
              <a:t>异常账号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3492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B020"/>
                </a:solidFill>
                <a:latin typeface="Microsoft YaHei"/>
              </a:rPr>
              <a:t>user8821 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6692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确证性证据 → 直接高风险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信任守护师 · 欧莱雅第二届美妆科技黑客松 · 赛题2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07  能力演示 · 合规规则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E8EEFB"/>
                </a:solidFill>
                <a:latin typeface="Microsoft YaHei"/>
              </a:rPr>
              <a:t>输出的不是概率，是可以写进工单的违规条目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54864" cy="86868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02536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8EEFB"/>
                </a:solidFill>
                <a:latin typeface="Microsoft YaHei"/>
              </a:rPr>
              <a:t>绝对化用语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39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FFB020"/>
                </a:solidFill>
                <a:latin typeface="Microsoft YaHei"/>
              </a:rPr>
              <a:t>「全网最低价」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2002536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4DA3FF"/>
                </a:solidFill>
                <a:latin typeface="Microsoft YaHei"/>
              </a:rPr>
              <a:t>《广告法》第九条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377439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不得使用国家级、最高级、最佳等用语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834639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2834639"/>
            <a:ext cx="54864" cy="86868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962656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8EEFB"/>
                </a:solidFill>
                <a:latin typeface="Microsoft YaHei"/>
              </a:rPr>
              <a:t>特殊化妆品未标批号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337559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FFB020"/>
                </a:solidFill>
                <a:latin typeface="Microsoft YaHei"/>
              </a:rPr>
              <a:t>「美白」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962656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4DA3FF"/>
                </a:solidFill>
                <a:latin typeface="Microsoft YaHei"/>
              </a:rPr>
              <a:t>《化妆品监督管理条例》第十六条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3337559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美白祛斑等须标注国妆特字注册编号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794759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794759"/>
            <a:ext cx="54864" cy="86868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922775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8EEFB"/>
                </a:solidFill>
                <a:latin typeface="Microsoft YaHei"/>
              </a:rPr>
              <a:t>量化功效承诺缺乏依据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297679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FFB020"/>
                </a:solidFill>
                <a:latin typeface="Microsoft YaHei"/>
              </a:rPr>
              <a:t>「立竿见影」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3922775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4DA3FF"/>
                </a:solidFill>
                <a:latin typeface="Microsoft YaHei"/>
              </a:rPr>
              <a:t>《化妆品功效宣称评价规范》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4297679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功效宣称应有评价依据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754879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754879"/>
            <a:ext cx="54864" cy="86868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882895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8EEFB"/>
                </a:solidFill>
                <a:latin typeface="Microsoft YaHei"/>
              </a:rPr>
              <a:t>宣称医疗作用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257799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FFB020"/>
                </a:solidFill>
                <a:latin typeface="Microsoft YaHei"/>
              </a:rPr>
              <a:t>「消炎」「药妆」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4882895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4DA3FF"/>
                </a:solidFill>
                <a:latin typeface="Microsoft YaHei"/>
              </a:rPr>
              <a:t>《化妆品监督管理条例》第四十三条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5257799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化妆品不得明示或暗示医疗作用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8978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5F7395"/>
                </a:solidFill>
                <a:latin typeface="Microsoft YaHei"/>
              </a:rPr>
              <a:t>规则层零算力、零幻觉，却是「落地价值」最直接的论据：它输出的是处置依据，不是置信度。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信任守护师 · 欧莱雅第二届美妆科技黑客松 · 赛题2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08  产品形态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E8EEFB"/>
                </a:solidFill>
                <a:latin typeface="Microsoft YaHei"/>
              </a:rPr>
              <a:t>三栏式工作台 + 对话追问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515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8EA3C4"/>
                </a:solidFill>
                <a:latin typeface="Microsoft YaHei"/>
              </a:rPr>
              <a:t>左边输入、中间证据、右边结论；所有证据可点击联动</a:t>
            </a:r>
          </a:p>
        </p:txBody>
      </p:sp>
      <p:pic>
        <p:nvPicPr>
          <p:cNvPr id="6" name="Picture 5" descr="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75104"/>
            <a:ext cx="7360920" cy="43708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66760" y="1975104"/>
            <a:ext cx="3108960" cy="205740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21031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35D39A"/>
                </a:solidFill>
                <a:latin typeface="Microsoft YaHei"/>
              </a:rPr>
              <a:t>交互设计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450592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· 正片/热图透明度滑杆
· 4 个维度热图切换
· 证据卡 ↔ 区域框联动
· 对话引用证据回答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4160520"/>
            <a:ext cx="3108960" cy="2185416"/>
          </a:xfrm>
          <a:prstGeom prst="roundRect">
            <a:avLst>
              <a:gd name="adj" fmla="val 6000"/>
            </a:avLst>
          </a:prstGeom>
          <a:solidFill>
            <a:srgbClr val="0F1A2B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0" y="42976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工程约束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4645152"/>
            <a:ext cx="27432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· 纯 CPU、可离线
· 无前端构建，双击即用
· 单次 2–4 秒
· 模型可替换、可降级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信任守护师 · 欧莱雅第二届美妆科技黑客松 · 赛题2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35D39A"/>
                </a:solidFill>
                <a:latin typeface="Microsoft YaHei"/>
              </a:rPr>
              <a:t>09  测试数据包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E8EEFB"/>
                </a:solidFill>
                <a:latin typeface="Microsoft YaHei"/>
              </a:rPr>
              <a:t>我们连测试数据一起交：50 条，覆盖三场景与三档难度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515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8EA3C4"/>
                </a:solidFill>
                <a:latin typeface="Microsoft YaHei"/>
              </a:rPr>
              <a:t>赛题看的不只是跑分，而是这份数据本身经不经得起看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93392"/>
            <a:ext cx="5394960" cy="288036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5F7395"/>
                </a:solidFill>
                <a:latin typeface="Microsoft YaHei"/>
              </a:rPr>
              <a:t>样本构成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场景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51460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E8EEFB"/>
                </a:solidFill>
                <a:latin typeface="Microsoft YaHei"/>
              </a:rPr>
              <a:t>种草 20　·　评论 15　·　素材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8152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真伪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08152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E8EEFB"/>
                </a:solidFill>
                <a:latin typeface="Microsoft YaHei"/>
              </a:rPr>
              <a:t>伪造 28　·　真实 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4845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难度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648456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E8EEFB"/>
                </a:solidFill>
                <a:latin typeface="Microsoft YaHei"/>
              </a:rPr>
              <a:t>easy 7　·　medium 17　·　hard 4　·　real 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1538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标注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215384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E8EEFB"/>
                </a:solidFill>
                <a:latin typeface="Microsoft YaHei"/>
              </a:rPr>
              <a:t>12 张 mask.png（逐像素篡改区域）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993392"/>
            <a:ext cx="5212080" cy="2880360"/>
          </a:xfrm>
          <a:prstGeom prst="roundRect">
            <a:avLst>
              <a:gd name="adj" fmla="val 6000"/>
            </a:avLst>
          </a:prstGeom>
          <a:solidFill>
            <a:srgbClr val="0F1A2B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10312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5F7395"/>
                </a:solidFill>
                <a:latin typeface="Microsoft YaHei"/>
              </a:rPr>
              <a:t>五类伪造手法（不是同一种东西做五遍）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51460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C9D8EF"/>
                </a:solidFill>
                <a:latin typeface="Microsoft YaHei"/>
              </a:rPr>
              <a:t>· 大面积磨皮 + 提亮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78440" y="25146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1">
                <a:solidFill>
                  <a:srgbClr val="FFB020"/>
                </a:solidFill>
                <a:latin typeface="Microsoft YaHei"/>
              </a:rPr>
              <a:t>4 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5351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C9D8EF"/>
                </a:solidFill>
                <a:latin typeface="Microsoft YaHei"/>
              </a:rPr>
              <a:t>· 局部磨皮 + 拼接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78440" y="295351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1">
                <a:solidFill>
                  <a:srgbClr val="FFB020"/>
                </a:solidFill>
                <a:latin typeface="Microsoft YaHei"/>
              </a:rPr>
              <a:t>4 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392424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C9D8EF"/>
                </a:solidFill>
                <a:latin typeface="Microsoft YaHei"/>
              </a:rPr>
              <a:t>· 轻度磨皮 + 拼接 + 重压缩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78440" y="339242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1">
                <a:solidFill>
                  <a:srgbClr val="FFB020"/>
                </a:solidFill>
                <a:latin typeface="Microsoft YaHei"/>
              </a:rPr>
              <a:t>4 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831335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C9D8EF"/>
                </a:solidFill>
                <a:latin typeface="Microsoft YaHei"/>
              </a:rPr>
              <a:t>· 重度平滑 + 色彩拉伸（模拟 AIGC 重绘）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78440" y="3831335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1">
                <a:solidFill>
                  <a:srgbClr val="FFB020"/>
                </a:solidFill>
                <a:latin typeface="Microsoft YaHei"/>
              </a:rPr>
              <a:t>8 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27024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C9D8EF"/>
                </a:solidFill>
                <a:latin typeface="Microsoft YaHei"/>
              </a:rPr>
              <a:t>· 模板化评论 + 短时间集中投放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440" y="4270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1">
                <a:solidFill>
                  <a:srgbClr val="FFB020"/>
                </a:solidFill>
                <a:latin typeface="Microsoft YaHei"/>
              </a:rPr>
              <a:t>8 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029200"/>
            <a:ext cx="6766560" cy="1051560"/>
          </a:xfrm>
          <a:prstGeom prst="roundRect">
            <a:avLst>
              <a:gd name="adj" fmla="val 6000"/>
            </a:avLst>
          </a:prstGeom>
          <a:solidFill>
            <a:srgbClr val="0B1422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120640"/>
            <a:ext cx="6400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>
                <a:solidFill>
                  <a:srgbClr val="8EA3C4"/>
                </a:solidFill>
                <a:latin typeface="Microsoft YaHei"/>
              </a:rPr>
              <a:t>sample_001/
  ├ meta.txt     场景 / 真伪 / 难度 / 伪造方式
  ├ mask.png     篡改区域（仅图片类样本）
  └ post/        content.txt + image_1.jpg + image_2.jpg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513892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950" b="0">
                <a:solidFill>
                  <a:srgbClr val="9FC8FF"/>
                </a:solidFill>
                <a:latin typeface="Microsoft YaHei"/>
              </a:rPr>
              <a:t>每条样本都能复现：
把 meta.txt 的字段喂给 eval/run_eval.py，
就能重算出 PPT 里的所有指标。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信任守护师 · 欧莱雅第二届美妆科技黑客松 · 赛题2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10  效果与严谨性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E8EEFB"/>
                </a:solidFill>
                <a:latin typeface="Microsoft YaHei"/>
              </a:rPr>
              <a:t>我们交的不只是系统，还有一套可复现的评测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515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8EA3C4"/>
                </a:solidFill>
                <a:latin typeface="Microsoft YaHei"/>
              </a:rPr>
              <a:t>50 条自建样本，真伪 28:22，带 ground-truth mask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38528"/>
            <a:ext cx="2029968" cy="105156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29968"/>
            <a:ext cx="2029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>
                <a:solidFill>
                  <a:srgbClr val="4DA3FF"/>
                </a:solidFill>
                <a:latin typeface="Microsoft YaHei"/>
              </a:rPr>
              <a:t>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42032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>
                <a:solidFill>
                  <a:srgbClr val="5F7395"/>
                </a:solidFill>
                <a:latin typeface="Microsoft YaHei"/>
              </a:rPr>
              <a:t>测试样本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1938528"/>
            <a:ext cx="2029968" cy="105156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2029968"/>
            <a:ext cx="2029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>
                <a:solidFill>
                  <a:srgbClr val="FFB020"/>
                </a:solidFill>
                <a:latin typeface="Microsoft YaHei"/>
              </a:rPr>
              <a:t>28 / 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542032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>
                <a:solidFill>
                  <a:srgbClr val="5F7395"/>
                </a:solidFill>
                <a:latin typeface="Microsoft YaHei"/>
              </a:rPr>
              <a:t>伪造 / 真实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1938528"/>
            <a:ext cx="2029968" cy="105156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4920" y="2029968"/>
            <a:ext cx="2029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>
                <a:solidFill>
                  <a:srgbClr val="35D39A"/>
                </a:solidFill>
                <a:latin typeface="Microsoft YaHei"/>
              </a:rPr>
              <a:t>0.77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2542032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>
                <a:solidFill>
                  <a:srgbClr val="5F7395"/>
                </a:solidFill>
                <a:latin typeface="Microsoft YaHei"/>
              </a:rPr>
              <a:t>Precision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79" y="1938528"/>
            <a:ext cx="2029968" cy="105156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79" y="2029968"/>
            <a:ext cx="2029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>
                <a:solidFill>
                  <a:srgbClr val="FF4D6D"/>
                </a:solidFill>
                <a:latin typeface="Microsoft YaHei"/>
              </a:rPr>
              <a:t>0.46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79" y="2542032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>
                <a:solidFill>
                  <a:srgbClr val="5F7395"/>
                </a:solidFill>
                <a:latin typeface="Microsoft YaHei"/>
              </a:rPr>
              <a:t>Recall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1938528"/>
            <a:ext cx="2029968" cy="105156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40" y="2029968"/>
            <a:ext cx="2029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>
                <a:solidFill>
                  <a:srgbClr val="7C6BF0"/>
                </a:solidFill>
                <a:latin typeface="Microsoft YaHei"/>
              </a:rPr>
              <a:t>0.23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2542032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>
                <a:solidFill>
                  <a:srgbClr val="5F7395"/>
                </a:solidFill>
                <a:latin typeface="Microsoft YaHei"/>
              </a:rPr>
              <a:t>定位 IoU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218688"/>
            <a:ext cx="5394960" cy="146304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2918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5F7395"/>
                </a:solidFill>
                <a:latin typeface="Microsoft YaHei"/>
              </a:rPr>
              <a:t>分场景 F1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65760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E8EEFB"/>
                </a:solidFill>
                <a:latin typeface="Microsoft YaHei"/>
              </a:rPr>
              <a:t>种草图文 0.63　·　评论区 0.93　·　AI 素材 0.00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224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8A9BB8"/>
                </a:solidFill>
                <a:latin typeface="Microsoft YaHei"/>
              </a:rPr>
              <a:t>素材场景在自建集上没有区分度，只作辅助筛查，见下一页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218688"/>
            <a:ext cx="5212080" cy="1463040"/>
          </a:xfrm>
          <a:prstGeom prst="roundRect">
            <a:avLst>
              <a:gd name="adj" fmla="val 6000"/>
            </a:avLst>
          </a:prstGeom>
          <a:solidFill>
            <a:srgbClr val="2A1218"/>
          </a:solidFill>
          <a:ln w="9525">
            <a:solidFill>
              <a:srgbClr val="6B22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2918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FF4D6D"/>
                </a:solidFill>
                <a:latin typeface="Microsoft YaHei"/>
              </a:rPr>
              <a:t>已知短板（不掩饰）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657600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E0B8C0"/>
                </a:solidFill>
                <a:latin typeface="Microsoft YaHei"/>
              </a:rPr>
              <a:t>早期 F1 是 0.69，其中素材场景的检出
来自 ELA 的 z 分数退化（z=876445）；
修正后如实回落到 0.58。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892040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100" b="0">
                <a:solidFill>
                  <a:srgbClr val="8EA3C4"/>
                </a:solidFill>
                <a:latin typeface="Microsoft YaHei"/>
              </a:rPr>
              <a:t>评测方法：样本级 Precision / Recall 以 0.5 分为阈值；定位 IoU 用系统输出的可疑区域二值化后与 mask.png 对比。
数据包里同时包含真实样本，就是为了检验系统会不会「见谁都像假的」——正是这一步暴露了上面的误报。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信任守护师 · 欧莱雅第二届美妆科技黑客松 · 赛题2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11  落地价值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E8EEFB"/>
                </a:solidFill>
                <a:latin typeface="Microsoft YaHei"/>
              </a:rPr>
              <a:t>从「事后举报」变成「事前拦截」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38528"/>
            <a:ext cx="2331720" cy="141732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66543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35D39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40864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>
                <a:solidFill>
                  <a:srgbClr val="E8EEFB"/>
                </a:solidFill>
                <a:latin typeface="Microsoft YaHei"/>
              </a:rPr>
              <a:t>抽检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每天 5% 内容
自动过一遍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27832" y="1938528"/>
            <a:ext cx="2331720" cy="141732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2066543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35D39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2340864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>
                <a:solidFill>
                  <a:srgbClr val="E8EEFB"/>
                </a:solidFill>
                <a:latin typeface="Microsoft YaHei"/>
              </a:rPr>
              <a:t>核验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74320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五维证据链
2–4 秒出结论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9864" y="1938528"/>
            <a:ext cx="2331720" cy="141732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52744" y="2066543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35D39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52744" y="2340864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>
                <a:solidFill>
                  <a:srgbClr val="E8EEFB"/>
                </a:solidFill>
                <a:latin typeface="Microsoft YaHei"/>
              </a:rPr>
              <a:t>分级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52744" y="274320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高危下架
中危限流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11896" y="1938528"/>
            <a:ext cx="2331720" cy="141732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4776" y="2066543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35D39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4776" y="2340864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>
                <a:solidFill>
                  <a:srgbClr val="E8EEFB"/>
                </a:solidFill>
                <a:latin typeface="Microsoft YaHei"/>
              </a:rPr>
              <a:t>申诉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4776" y="274320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8EA3C4"/>
                </a:solidFill>
                <a:latin typeface="Microsoft YaHei"/>
              </a:rPr>
              <a:t>证据包直接
回传创作者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49039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387705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4DA3FF"/>
                </a:solidFill>
                <a:latin typeface="Microsoft YaHei"/>
              </a:rPr>
              <a:t>对平台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261104"/>
            <a:ext cx="3108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8EA3C4"/>
                </a:solidFill>
                <a:latin typeface="Microsoft YaHei"/>
              </a:rPr>
              <a:t>审核效率提升，处置有据可依，减少误伤与舆情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61688" y="3749039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2855" y="387705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35D39A"/>
                </a:solidFill>
                <a:latin typeface="Microsoft YaHei"/>
              </a:rPr>
              <a:t>对品牌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2855" y="4261104"/>
            <a:ext cx="3108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8EA3C4"/>
                </a:solidFill>
                <a:latin typeface="Microsoft YaHei"/>
              </a:rPr>
              <a:t>保护真实口碑不被水军稀释，掌握竞品造假证据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37575" y="3749039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387705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B020"/>
                </a:solidFill>
                <a:latin typeface="Microsoft YaHei"/>
              </a:rPr>
              <a:t>对消费者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8744" y="4261104"/>
            <a:ext cx="3108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8EA3C4"/>
                </a:solidFill>
                <a:latin typeface="Microsoft YaHei"/>
              </a:rPr>
              <a:t>看到的内容有可信度标注，知道该不该信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44068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F7395"/>
                </a:solidFill>
                <a:latin typeface="Microsoft YaHei"/>
              </a:rPr>
              <a:t>合规是刚需：市场监管总局对化妆品功效宣称的专项整治一直在进行，平台侧的审核压力是真实存在的。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信任守护师 · 欧莱雅第二届美妆科技黑客松 · 赛题2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4DA3FF"/>
                </a:solidFill>
                <a:latin typeface="Microsoft YaHei"/>
              </a:rPr>
              <a:t>12  未来规划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E8EEFB"/>
                </a:solidFill>
                <a:latin typeface="Microsoft YaHei"/>
              </a:rPr>
              <a:t>三条线把这个 Demo 变成产品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38528"/>
            <a:ext cx="3520440" cy="297180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4DA3FF"/>
                </a:solidFill>
                <a:latin typeface="Microsoft YaHei"/>
              </a:rPr>
              <a:t>1–3 个月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E8EEFB"/>
                </a:solidFill>
                <a:latin typeface="Microsoft YaHei"/>
              </a:rPr>
              <a:t>模型增强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99232"/>
            <a:ext cx="30632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100" b="0">
                <a:solidFill>
                  <a:srgbClr val="8EA3C4"/>
                </a:solidFill>
                <a:latin typeface="Microsoft YaHei"/>
              </a:rPr>
              <a:t>接入开源预训练 AIGC 检测器做集成；
引入 Qwen2.5-VL 做语义层复核；
用真实平台数据做阈值标定。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38528"/>
            <a:ext cx="3520440" cy="297180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1031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35D39A"/>
                </a:solidFill>
                <a:latin typeface="Microsoft YaHei"/>
              </a:rPr>
              <a:t>3–6 个月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45059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E8EEFB"/>
                </a:solidFill>
                <a:latin typeface="Microsoft YaHei"/>
              </a:rPr>
              <a:t>场景扩展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999232"/>
            <a:ext cx="30632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100" b="0">
                <a:solidFill>
                  <a:srgbClr val="8EA3C4"/>
                </a:solidFill>
                <a:latin typeface="Microsoft YaHei"/>
              </a:rPr>
              <a:t>从美妆扩到母婴、保健品等功效宣称密集品类；
从图文扩到短视频帧级核验。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1938528"/>
            <a:ext cx="3520440" cy="2971800"/>
          </a:xfrm>
          <a:prstGeom prst="roundRect">
            <a:avLst>
              <a:gd name="adj" fmla="val 6000"/>
            </a:avLst>
          </a:prstGeom>
          <a:solidFill>
            <a:srgbClr val="131C30"/>
          </a:solidFill>
          <a:ln w="9525">
            <a:solidFill>
              <a:srgbClr val="24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6175" y="21031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FFB020"/>
                </a:solidFill>
                <a:latin typeface="Microsoft YaHei"/>
              </a:rPr>
              <a:t>6–12 个月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5" y="245059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E8EEFB"/>
                </a:solidFill>
                <a:latin typeface="Microsoft YaHei"/>
              </a:rPr>
              <a:t>平台化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2999232"/>
            <a:ext cx="30632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100" b="0">
                <a:solidFill>
                  <a:srgbClr val="8EA3C4"/>
                </a:solidFill>
                <a:latin typeface="Microsoft YaHei"/>
              </a:rPr>
              <a:t>对接内容中台，做成审核工作流的插件；
证据包标准化，支持监管报送。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138928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0F221C"/>
          </a:solidFill>
          <a:ln w="9525">
            <a:solidFill>
              <a:srgbClr val="275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285232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35D39A"/>
                </a:solidFill>
                <a:latin typeface="Microsoft YaHei"/>
              </a:rPr>
              <a:t>我们相信：</a:t>
            </a:r>
            <a:r>
              <a:rPr sz="1300" b="0">
                <a:solidFill>
                  <a:srgbClr val="E8EEFB"/>
                </a:solidFill>
                <a:latin typeface="Microsoft YaHei"/>
              </a:rPr>
              <a:t>「内容可信度」会成为和「内容安全」同等重要的基础设施——而它的前提，是每一个判断都能被解释。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信任守护师 · 欧莱雅第二届美妆科技黑客松 · 赛题2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5F7395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