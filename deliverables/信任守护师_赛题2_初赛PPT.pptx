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490" r:id="rId3"/>
    <p:sldId id="493" r:id="rId11"/>
    <p:sldId id="494" r:id="rId12"/>
    <p:sldId id="495" r:id="rId13"/>
    <p:sldId id="496" r:id="rId14"/>
    <p:sldId id="497" r:id="rId15"/>
    <p:sldId id="498" r:id="rId16"/>
    <p:sldId id="499" r:id="rId17"/>
    <p:sldId id="500" r:id="rId18"/>
    <p:sldId id="501" r:id="rId19"/>
    <p:sldId id="502" r:id="rId20"/>
    <p:sldId id="503" r:id="rId21"/>
    <p:sldId id="504" r:id="rId22"/>
    <p:sldId id="49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7B8ABB3-3CD8-462B-964A-90C88F22725C}">
          <p14:sldIdLst>
            <p14:sldId id="490"/>
            <p14:sldId id="492"/>
            <p14:sldId id="491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FB8D876-CF7A-FFDC-74D7-6CE3805B12FB}" name="ZONG Echo" initials="EZ" userId="S::echo2.zong@loreal.com::a4606cd9-98cc-4fff-8532-d79a801fde2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45FD"/>
    <a:srgbClr val="655EEB"/>
    <a:srgbClr val="6160EA"/>
    <a:srgbClr val="4C28E4"/>
    <a:srgbClr val="AEAAF2"/>
    <a:srgbClr val="C99AFE"/>
    <a:srgbClr val="B5A5F6"/>
    <a:srgbClr val="C79BFE"/>
    <a:srgbClr val="81AEEB"/>
    <a:srgbClr val="82A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71" autoAdjust="0"/>
    <p:restoredTop sz="94643"/>
  </p:normalViewPr>
  <p:slideViewPr>
    <p:cSldViewPr snapToGrid="0">
      <p:cViewPr varScale="1">
        <p:scale>
          <a:sx n="115" d="100"/>
          <a:sy n="115" d="100"/>
        </p:scale>
        <p:origin x="304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3784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5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Relationship Id="rId10" Type="http://schemas.microsoft.com/office/2018/10/relationships/authors" Target="authors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1370D-ABEB-425B-ADF0-7925AE0D2D0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AA396-8F27-4FE3-92B6-74EEBE285A5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6095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7030548" y="109257"/>
            <a:ext cx="4921967" cy="1038173"/>
            <a:chOff x="2175519" y="2264628"/>
            <a:chExt cx="4921967" cy="1038173"/>
          </a:xfrm>
        </p:grpSpPr>
        <p:pic>
          <p:nvPicPr>
            <p:cNvPr id="6" name="图片 5" descr="连标"/>
            <p:cNvPicPr>
              <a:picLocks noChangeAspect="1"/>
            </p:cNvPicPr>
            <p:nvPr/>
          </p:nvPicPr>
          <p:blipFill>
            <a:blip r:embed="rId3"/>
            <a:srcRect r="64013"/>
            <a:stretch>
              <a:fillRect/>
            </a:stretch>
          </p:blipFill>
          <p:spPr>
            <a:xfrm>
              <a:off x="2175519" y="2362218"/>
              <a:ext cx="1528881" cy="932900"/>
            </a:xfrm>
            <a:prstGeom prst="rect">
              <a:avLst/>
            </a:prstGeom>
          </p:spPr>
        </p:pic>
        <p:pic>
          <p:nvPicPr>
            <p:cNvPr id="8" name="图片 7" descr="有意思连标"/>
            <p:cNvPicPr>
              <a:picLocks noChangeAspect="1"/>
            </p:cNvPicPr>
            <p:nvPr/>
          </p:nvPicPr>
          <p:blipFill>
            <a:blip r:embed="rId4"/>
            <a:srcRect r="55699"/>
            <a:stretch>
              <a:fillRect/>
            </a:stretch>
          </p:blipFill>
          <p:spPr>
            <a:xfrm>
              <a:off x="3468117" y="2264628"/>
              <a:ext cx="1528882" cy="1030490"/>
            </a:xfrm>
            <a:prstGeom prst="rect">
              <a:avLst/>
            </a:prstGeom>
          </p:spPr>
        </p:pic>
        <p:pic>
          <p:nvPicPr>
            <p:cNvPr id="9" name="图片 8" descr="有意思连标"/>
            <p:cNvPicPr>
              <a:picLocks noChangeAspect="1"/>
            </p:cNvPicPr>
            <p:nvPr userDrawn="1"/>
          </p:nvPicPr>
          <p:blipFill>
            <a:blip r:embed="rId4"/>
            <a:srcRect l="48545"/>
            <a:stretch>
              <a:fillRect/>
            </a:stretch>
          </p:blipFill>
          <p:spPr>
            <a:xfrm>
              <a:off x="5315373" y="2268644"/>
              <a:ext cx="1782113" cy="1034157"/>
            </a:xfrm>
            <a:prstGeom prst="rect">
              <a:avLst/>
            </a:prstGeom>
          </p:spPr>
        </p:pic>
        <p:pic>
          <p:nvPicPr>
            <p:cNvPr id="10" name="图片 9" descr="连标"/>
            <p:cNvPicPr>
              <a:picLocks noChangeAspect="1"/>
            </p:cNvPicPr>
            <p:nvPr userDrawn="1"/>
          </p:nvPicPr>
          <p:blipFill>
            <a:blip r:embed="rId3"/>
            <a:srcRect l="30287" r="64013"/>
            <a:stretch>
              <a:fillRect/>
            </a:stretch>
          </p:blipFill>
          <p:spPr>
            <a:xfrm>
              <a:off x="5029656" y="2366234"/>
              <a:ext cx="242175" cy="932900"/>
            </a:xfrm>
            <a:prstGeom prst="rect">
              <a:avLst/>
            </a:prstGeom>
          </p:spPr>
        </p:pic>
      </p:grpSp>
      <p:pic>
        <p:nvPicPr>
          <p:cNvPr id="2" name="图片 1" descr="未标题-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496685" y="5886450"/>
            <a:ext cx="5171440" cy="8388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"/>
          <p:cNvPicPr>
            <a:picLocks noChangeAspect="1"/>
          </p:cNvPicPr>
          <p:nvPr userDrawn="1"/>
        </p:nvPicPr>
        <p:blipFill>
          <a:blip r:embed="rId2"/>
          <a:srcRect t="90094"/>
          <a:stretch>
            <a:fillRect/>
          </a:stretch>
        </p:blipFill>
        <p:spPr>
          <a:xfrm>
            <a:off x="0" y="6176963"/>
            <a:ext cx="12192000" cy="6791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背景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6095"/>
          </a:xfrm>
          <a:prstGeom prst="rect">
            <a:avLst/>
          </a:prstGeom>
        </p:spPr>
      </p:pic>
      <p:pic>
        <p:nvPicPr>
          <p:cNvPr id="3" name="图片 2" descr="未标题-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96685" y="5886450"/>
            <a:ext cx="5171440" cy="838835"/>
          </a:xfrm>
          <a:prstGeom prst="rect">
            <a:avLst/>
          </a:prstGeom>
        </p:spPr>
      </p:pic>
      <p:grpSp>
        <p:nvGrpSpPr>
          <p:cNvPr id="11" name="组合 10"/>
          <p:cNvGrpSpPr/>
          <p:nvPr userDrawn="1"/>
        </p:nvGrpSpPr>
        <p:grpSpPr>
          <a:xfrm>
            <a:off x="7030548" y="109257"/>
            <a:ext cx="4921967" cy="1038173"/>
            <a:chOff x="2175519" y="2264628"/>
            <a:chExt cx="4921967" cy="1038173"/>
          </a:xfrm>
        </p:grpSpPr>
        <p:pic>
          <p:nvPicPr>
            <p:cNvPr id="12" name="图片 11" descr="连标"/>
            <p:cNvPicPr>
              <a:picLocks noChangeAspect="1"/>
            </p:cNvPicPr>
            <p:nvPr/>
          </p:nvPicPr>
          <p:blipFill>
            <a:blip r:embed="rId4"/>
            <a:srcRect r="64013"/>
            <a:stretch>
              <a:fillRect/>
            </a:stretch>
          </p:blipFill>
          <p:spPr>
            <a:xfrm>
              <a:off x="2175519" y="2362218"/>
              <a:ext cx="1528881" cy="932900"/>
            </a:xfrm>
            <a:prstGeom prst="rect">
              <a:avLst/>
            </a:prstGeom>
          </p:spPr>
        </p:pic>
        <p:pic>
          <p:nvPicPr>
            <p:cNvPr id="13" name="图片 12" descr="有意思连标"/>
            <p:cNvPicPr>
              <a:picLocks noChangeAspect="1"/>
            </p:cNvPicPr>
            <p:nvPr/>
          </p:nvPicPr>
          <p:blipFill>
            <a:blip r:embed="rId5"/>
            <a:srcRect r="55699"/>
            <a:stretch>
              <a:fillRect/>
            </a:stretch>
          </p:blipFill>
          <p:spPr>
            <a:xfrm>
              <a:off x="3468117" y="2264628"/>
              <a:ext cx="1528882" cy="1030490"/>
            </a:xfrm>
            <a:prstGeom prst="rect">
              <a:avLst/>
            </a:prstGeom>
          </p:spPr>
        </p:pic>
        <p:pic>
          <p:nvPicPr>
            <p:cNvPr id="15" name="图片 14" descr="有意思连标"/>
            <p:cNvPicPr>
              <a:picLocks noChangeAspect="1"/>
            </p:cNvPicPr>
            <p:nvPr userDrawn="1"/>
          </p:nvPicPr>
          <p:blipFill>
            <a:blip r:embed="rId5"/>
            <a:srcRect l="48545"/>
            <a:stretch>
              <a:fillRect/>
            </a:stretch>
          </p:blipFill>
          <p:spPr>
            <a:xfrm>
              <a:off x="5315373" y="2268644"/>
              <a:ext cx="1782113" cy="1034157"/>
            </a:xfrm>
            <a:prstGeom prst="rect">
              <a:avLst/>
            </a:prstGeom>
          </p:spPr>
        </p:pic>
        <p:pic>
          <p:nvPicPr>
            <p:cNvPr id="16" name="图片 15" descr="连标"/>
            <p:cNvPicPr>
              <a:picLocks noChangeAspect="1"/>
            </p:cNvPicPr>
            <p:nvPr userDrawn="1"/>
          </p:nvPicPr>
          <p:blipFill>
            <a:blip r:embed="rId4"/>
            <a:srcRect l="30287" r="64013"/>
            <a:stretch>
              <a:fillRect/>
            </a:stretch>
          </p:blipFill>
          <p:spPr>
            <a:xfrm>
              <a:off x="5029656" y="2366234"/>
              <a:ext cx="242175" cy="93290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58FFC-3A76-4D99-AB9F-7999D75783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7A21B9-1903-450D-A962-157248E63012}" type="slidenum">
              <a:rPr lang="zh-CN" altLang="en-US" smtClean="0"/>
            </a:fld>
            <a:endParaRPr lang="zh-CN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5673725" y="6530340"/>
            <a:ext cx="8763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900">
                <a:solidFill>
                  <a:srgbClr val="008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C1 - Internal use</a:t>
            </a:r>
            <a:endParaRPr lang="zh-CN" altLang="en-US" sz="900">
              <a:solidFill>
                <a:srgbClr val="008000">
                  <a:alpha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3"/>
          <p:cNvSpPr txBox="1"/>
          <p:nvPr/>
        </p:nvSpPr>
        <p:spPr>
          <a:xfrm>
            <a:off x="1477182" y="2034216"/>
            <a:ext cx="927795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67740"/>
            <a:r>
              <a:rPr sz="5400" b="1">
                <a:solidFill>
                  <a:srgbClr val="FFFFFF"/>
                </a:solidFill>
                <a:latin typeface="Arial"/>
                <a:ea typeface="思源黑体 CN Bold"/>
              </a:rPr>
              <a:t>信任守护师</a:t>
            </a:r>
            <a:endParaRPr lang="zh-CN" altLang="en-US" sz="4400" b="1" dirty="0">
              <a:solidFill>
                <a:srgbClr val="FFFFFF"/>
              </a:solidFill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  <a:p>
            <a:pPr>
              <a:spcBef>
                <a:spcPts val="1000"/>
              </a:spcBef>
            </a:pPr>
            <a:r>
              <a:rPr sz="3000" b="0">
                <a:solidFill>
                  <a:srgbClr val="FFFFFF"/>
                </a:solidFill>
                <a:latin typeface="Arial"/>
                <a:ea typeface="思源黑体 CN Light"/>
              </a:rPr>
              <a:t>让「眼见为实」重新变得可验证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FFFFFF"/>
                </a:solidFill>
                <a:latin typeface="Arial"/>
                <a:ea typeface="思源黑体 CN Light"/>
              </a:rPr>
              <a:t>赛题 2 · 美妆内容真实性核验　　队伍：待填写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2"/>
          <p:cNvSpPr txBox="1"/>
          <p:nvPr/>
        </p:nvSpPr>
        <p:spPr>
          <a:xfrm>
            <a:off x="747" y="2659198"/>
            <a:ext cx="12190507" cy="18621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67740">
              <a:spcBef>
                <a:spcPts val="1060"/>
              </a:spcBef>
            </a:pPr>
            <a:r>
              <a:rPr lang="en-US" altLang="zh-CN" sz="7200" b="1" i="1" dirty="0">
                <a:solidFill>
                  <a:srgbClr val="FFFFFF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  THANKS</a:t>
            </a:r>
            <a:r>
              <a:rPr lang="zh-CN" altLang="en-US" sz="7200" b="1" i="1" dirty="0">
                <a:solidFill>
                  <a:srgbClr val="FFFFFF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！</a:t>
            </a:r>
            <a:endParaRPr lang="zh-CN" altLang="en-US" sz="7200" b="1" i="1" dirty="0">
              <a:solidFill>
                <a:srgbClr val="FFFFFF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4754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7A2E9B"/>
                </a:solidFill>
                <a:latin typeface="Arial"/>
                <a:ea typeface="思源黑体 CN Bold"/>
              </a:rPr>
              <a:t>作品背景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78638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3F3F3F"/>
                </a:solidFill>
                <a:latin typeface="Arial"/>
                <a:ea typeface="思源黑体 CN Bold"/>
              </a:rPr>
              <a:t>美妆内容正在变成「最不敢信」的一类内容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4813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808088"/>
                </a:solidFill>
                <a:latin typeface="Arial"/>
                <a:ea typeface="思源黑体 CN Light"/>
              </a:rPr>
              <a:t>功效看不见、对比图最容易修、评论区最容易刷——三件事叠在同一个行业里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" y="2148840"/>
            <a:ext cx="3429000" cy="224028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32104" y="2148840"/>
            <a:ext cx="82296" cy="2240280"/>
          </a:xfrm>
          <a:prstGeom prst="rect">
            <a:avLst/>
          </a:prstGeom>
          <a:solidFill>
            <a:srgbClr val="7A2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23317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7A2E9B"/>
                </a:solidFill>
                <a:latin typeface="Arial"/>
                <a:ea typeface="思源黑体 CN Bold"/>
              </a:rPr>
              <a:t>文案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6517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F3F3F"/>
                </a:solidFill>
                <a:latin typeface="Arial"/>
                <a:ea typeface="思源黑体 CN Bold"/>
              </a:rPr>
              <a:t>「7 天白 3 个度」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3310128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808088"/>
                </a:solidFill>
                <a:latin typeface="Arial"/>
                <a:ea typeface="思源黑体 CN Light"/>
              </a:rPr>
              <a:t>AI 一分钟能写 20 篇，模板化文案已经是流水线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2148840"/>
            <a:ext cx="3429000" cy="224028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43984" y="2148840"/>
            <a:ext cx="82296" cy="2240280"/>
          </a:xfrm>
          <a:prstGeom prst="rect">
            <a:avLst/>
          </a:prstGeom>
          <a:solidFill>
            <a:srgbClr val="7A2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3317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7A2E9B"/>
                </a:solidFill>
                <a:latin typeface="Arial"/>
                <a:ea typeface="思源黑体 CN Bold"/>
              </a:rPr>
              <a:t>配图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6517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F3F3F"/>
                </a:solidFill>
                <a:latin typeface="Arial"/>
                <a:ea typeface="思源黑体 CN Bold"/>
              </a:rPr>
              <a:t>局部磨皮 + 提亮 + 拼接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3310128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808088"/>
                </a:solidFill>
                <a:latin typeface="Arial"/>
                <a:ea typeface="思源黑体 CN Light"/>
              </a:rPr>
              <a:t>对比图是美妆内容的核心证据，也最容易被改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2148840"/>
            <a:ext cx="3429000" cy="224028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55864" y="2148840"/>
            <a:ext cx="82296" cy="2240280"/>
          </a:xfrm>
          <a:prstGeom prst="rect">
            <a:avLst/>
          </a:prstGeom>
          <a:solidFill>
            <a:srgbClr val="7A2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23317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7A2E9B"/>
                </a:solidFill>
                <a:latin typeface="Arial"/>
                <a:ea typeface="思源黑体 CN Bold"/>
              </a:rPr>
              <a:t>评论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6517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F3F3F"/>
                </a:solidFill>
                <a:latin typeface="Arial"/>
                <a:ea typeface="思源黑体 CN Bold"/>
              </a:rPr>
              <a:t>200 条清一色好评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3310128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808088"/>
                </a:solidFill>
                <a:latin typeface="Arial"/>
                <a:ea typeface="思源黑体 CN Light"/>
              </a:rPr>
              <a:t>12 分钟内投放完毕，账号昵称是批量注册的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" y="4709160"/>
            <a:ext cx="10561320" cy="1051560"/>
          </a:xfrm>
          <a:prstGeom prst="roundRect">
            <a:avLst>
              <a:gd name="adj" fmla="val 6000"/>
            </a:avLst>
          </a:prstGeom>
          <a:solidFill>
            <a:srgbClr val="FBF7FD"/>
          </a:solidFill>
          <a:ln w="11430">
            <a:solidFill>
              <a:srgbClr val="E2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97280" y="48920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3F3F3F"/>
                </a:solidFill>
                <a:latin typeface="Arial"/>
                <a:ea typeface="思源黑体 CN Bold"/>
              </a:rPr>
              <a:t>平台审核员每天面对这些内容，可用的工具却只有「举报」。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808088"/>
                </a:solidFill>
                <a:latin typeface="Arial"/>
                <a:ea typeface="思源黑体 CN Light"/>
              </a:rPr>
              <a:t>我们要给的不是一个概率，而是一条能申诉、能复核、能写进工单的证据。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4754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7A2E9B"/>
                </a:solidFill>
                <a:latin typeface="Arial"/>
                <a:ea typeface="思源黑体 CN Bold"/>
              </a:rPr>
              <a:t>作品背景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78638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3F3F3F"/>
                </a:solidFill>
                <a:latin typeface="Arial"/>
                <a:ea typeface="思源黑体 CN Bold"/>
              </a:rPr>
              <a:t>平台要的不是「像假的」，而是「凭什么」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4813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808088"/>
                </a:solidFill>
                <a:latin typeface="Arial"/>
                <a:ea typeface="思源黑体 CN Light"/>
              </a:rPr>
              <a:t>常规 AIGC 检测器回答不了申诉，跨生成器还会掉点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" y="2103120"/>
            <a:ext cx="5120640" cy="306324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11430">
            <a:solidFill>
              <a:srgbClr val="E2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2677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808088"/>
                </a:solidFill>
                <a:latin typeface="Arial"/>
                <a:ea typeface="思源黑体 CN Bold"/>
              </a:rPr>
              <a:t>常规做法：一个概率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4572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808088"/>
                </a:solidFill>
                <a:latin typeface="Arial"/>
                <a:ea typeface="思源黑体 CN Light"/>
              </a:rPr>
              <a:t>· 审核员无法验证，也不敢据此下架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808088"/>
                </a:solidFill>
                <a:latin typeface="Arial"/>
                <a:ea typeface="思源黑体 CN Light"/>
              </a:rPr>
              <a:t>· 创作者无法申诉，只能反复吵架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808088"/>
                </a:solidFill>
                <a:latin typeface="Arial"/>
                <a:ea typeface="思源黑体 CN Light"/>
              </a:rPr>
              <a:t>· 跨生成器泛化差，模型一换就失灵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808088"/>
                </a:solidFill>
                <a:latin typeface="Arial"/>
                <a:ea typeface="思源黑体 CN Light"/>
              </a:rPr>
              <a:t>· 检测器本身在和生成器打军备竞赛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4805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808088"/>
                </a:solidFill>
                <a:latin typeface="Arial"/>
                <a:ea typeface="思源黑体 CN Bold"/>
              </a:rPr>
              <a:t>「AIGC 概率 87%」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03120"/>
            <a:ext cx="5120640" cy="306324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 w="11430">
            <a:solidFill>
              <a:srgbClr val="D8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28816" y="22677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7A2E9B"/>
                </a:solidFill>
                <a:latin typeface="Arial"/>
                <a:ea typeface="思源黑体 CN Bold"/>
              </a:rPr>
              <a:t>我们的做法：一条证据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2697480"/>
            <a:ext cx="4572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3F3F3F"/>
                </a:solidFill>
                <a:latin typeface="Arial"/>
                <a:ea typeface="思源黑体 CN Light"/>
              </a:rPr>
              <a:t>· 每个结论挂载可核对的数值证据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3F3F3F"/>
                </a:solidFill>
                <a:latin typeface="Arial"/>
                <a:ea typeface="思源黑体 CN Light"/>
              </a:rPr>
              <a:t>· 篡改区域可视化，边界能放大看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3F3F3F"/>
                </a:solidFill>
                <a:latin typeface="Arial"/>
                <a:ea typeface="思源黑体 CN Light"/>
              </a:rPr>
              <a:t>· 不确定时主动降级，不硬给高分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3F3F3F"/>
                </a:solidFill>
                <a:latin typeface="Arial"/>
                <a:ea typeface="思源黑体 CN Light"/>
              </a:rPr>
              <a:t>· 直接输出可写入处置工单的违规条款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44805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53136E"/>
                </a:solidFill>
                <a:latin typeface="Arial"/>
                <a:ea typeface="思源黑体 CN Bold"/>
              </a:rPr>
              <a:t>「这一块，凭什么」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5440680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53136E"/>
                </a:solidFill>
                <a:latin typeface="Arial"/>
                <a:ea typeface="思源黑体 CN Bold"/>
              </a:rPr>
              <a:t>赛题原文：「可解释性完整度将作为方案可信度的重要评估依据」——这就是我们的技术主线。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4754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7A2E9B"/>
                </a:solidFill>
                <a:latin typeface="Arial"/>
                <a:ea typeface="思源黑体 CN Bold"/>
              </a:rPr>
              <a:t>技术实现方式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78638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3F3F3F"/>
                </a:solidFill>
                <a:latin typeface="Arial"/>
                <a:ea typeface="思源黑体 CN Bold"/>
              </a:rPr>
              <a:t>五维证据链：像素 → 语义 → 行为 → 一致性 → 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4813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808088"/>
                </a:solidFill>
                <a:latin typeface="Arial"/>
                <a:ea typeface="思源黑体 CN Light"/>
              </a:rPr>
              <a:t>单点证据会误报，多层互证才敢下结论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" y="2103120"/>
            <a:ext cx="1975104" cy="251460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32104" y="2103120"/>
            <a:ext cx="1975104" cy="54864"/>
          </a:xfrm>
          <a:prstGeom prst="rect">
            <a:avLst/>
          </a:prstGeom>
          <a:solidFill>
            <a:srgbClr val="7A2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28600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7A2E9B"/>
                </a:solidFill>
                <a:latin typeface="Arial"/>
                <a:ea typeface="思源黑体 CN Bold"/>
              </a:rPr>
              <a:t>像素层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697480"/>
            <a:ext cx="1691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ELA 重压缩误差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噪声残差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高频细节缺失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频域幂律斜率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SIFT 拷贝-移动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16936" y="2103120"/>
            <a:ext cx="1975104" cy="251460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2916936" y="2103120"/>
            <a:ext cx="1975104" cy="54864"/>
          </a:xfrm>
          <a:prstGeom prst="rect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228600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5B3FA8"/>
                </a:solidFill>
                <a:latin typeface="Arial"/>
                <a:ea typeface="思源黑体 CN Bold"/>
              </a:rPr>
              <a:t>语义层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2697480"/>
            <a:ext cx="1691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9 项文体特征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句长变异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连接词密度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信息具体度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模板短语密度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1768" y="2103120"/>
            <a:ext cx="1975104" cy="251460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001768" y="2103120"/>
            <a:ext cx="1975104" cy="54864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59" y="228600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B6E8C"/>
                </a:solidFill>
                <a:latin typeface="Arial"/>
                <a:ea typeface="思源黑体 CN Bold"/>
              </a:rPr>
              <a:t>行为层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59" y="2697480"/>
            <a:ext cx="1691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模板簇聚类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短时爆发比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情感一致性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账号画像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昵称熵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103120"/>
            <a:ext cx="1975104" cy="251460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086600" y="2103120"/>
            <a:ext cx="1975104" cy="54864"/>
          </a:xfrm>
          <a:prstGeom prst="rect">
            <a:avLst/>
          </a:prstGeom>
          <a:solidFill>
            <a:srgbClr val="1B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51192" y="228600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B6E4A"/>
                </a:solidFill>
                <a:latin typeface="Arial"/>
                <a:ea typeface="思源黑体 CN Bold"/>
              </a:rPr>
              <a:t>一致性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2697480"/>
            <a:ext cx="1691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CIELAB 色差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文案宣称赞数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夸大倍数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两图光照方向差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71432" y="2103120"/>
            <a:ext cx="1975104" cy="251460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171432" y="2103120"/>
            <a:ext cx="1975104" cy="54864"/>
          </a:xfrm>
          <a:prstGeom prst="rect">
            <a:avLst/>
          </a:prstGeom>
          <a:solidFill>
            <a:srgbClr val="9A62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36024" y="228600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9A6213"/>
                </a:solidFill>
                <a:latin typeface="Arial"/>
                <a:ea typeface="思源黑体 CN Bold"/>
              </a:rPr>
              <a:t>规则层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2697480"/>
            <a:ext cx="1691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《广告法》第九条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第二十八条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《化妆品监督管理条例》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第十六条、第四十三条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" y="4754880"/>
            <a:ext cx="10561320" cy="1234440"/>
          </a:xfrm>
          <a:prstGeom prst="roundRect">
            <a:avLst>
              <a:gd name="adj" fmla="val 6000"/>
            </a:avLst>
          </a:prstGeom>
          <a:solidFill>
            <a:srgbClr val="FBF7FD"/>
          </a:solidFill>
          <a:ln w="11430">
            <a:solidFill>
              <a:srgbClr val="E2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97280" y="4901184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1">
                <a:solidFill>
                  <a:srgbClr val="53136E"/>
                </a:solidFill>
                <a:latin typeface="Arial"/>
                <a:ea typeface="思源黑体 CN Bold"/>
              </a:rPr>
              <a:t>融合规则：</a:t>
            </a:r>
            <a:r>
              <a:rPr sz="1250" b="0">
                <a:solidFill>
                  <a:srgbClr val="3F3F3F"/>
                </a:solidFill>
                <a:latin typeface="Arial"/>
                <a:ea typeface="思源黑体 CN Light"/>
              </a:rPr>
              <a:t>加权融合后，≥2 路信号同区互证才定位；命中高危条款可直接抬到中风险；出现两条以上高危证据才升到高风险；覆盖不足则主动降级。</a:t>
            </a:r>
          </a:p>
          <a:p>
            <a:pPr algn="l">
              <a:lnSpc>
                <a:spcPct val="155000"/>
              </a:lnSpc>
            </a:pPr>
            <a:r>
              <a:rPr sz="1300" b="1">
                <a:solidFill>
                  <a:srgbClr val="53136E"/>
                </a:solidFill>
                <a:latin typeface="Arial"/>
                <a:ea typeface="思源黑体 CN Bold"/>
              </a:rPr>
              <a:t>编排方式：</a:t>
            </a:r>
            <a:r>
              <a:rPr sz="1250" b="0">
                <a:solidFill>
                  <a:srgbClr val="3F3F3F"/>
                </a:solidFill>
                <a:latin typeface="Arial"/>
                <a:ea typeface="思源黑体 CN Light"/>
              </a:rPr>
              <a:t>固定 DAG（场景识别 → 并行取证 → 融合定级 → 生成结论），不是自由 ReAct——演示现场不会出现循环调用与幻觉工具。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4754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7A2E9B"/>
                </a:solidFill>
                <a:latin typeface="Arial"/>
                <a:ea typeface="思源黑体 CN Bold"/>
              </a:rPr>
              <a:t>技术实现方式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78638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3F3F3F"/>
                </a:solidFill>
                <a:latin typeface="Arial"/>
                <a:ea typeface="思源黑体 CN Bold"/>
              </a:rPr>
              <a:t>像素取证：把「修过」变成可以复算的数字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4813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808088"/>
                </a:solidFill>
                <a:latin typeface="Arial"/>
                <a:ea typeface="思源黑体 CN Light"/>
              </a:rPr>
              <a:t>六项经典取证信号，全部 CPU 毫秒级，不需要训练模型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" y="2084831"/>
            <a:ext cx="2542032" cy="123444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2" y="2231136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53136E"/>
                </a:solidFill>
                <a:latin typeface="Arial"/>
                <a:ea typeface="思源黑体 CN Bold"/>
              </a:rPr>
              <a:t>21.4%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28529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808088"/>
                </a:solidFill>
                <a:latin typeface="Arial"/>
                <a:ea typeface="思源黑体 CN Light"/>
              </a:rPr>
              <a:t>区域噪声偏离全图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2084831"/>
            <a:ext cx="2542032" cy="123444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03320" y="2231136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53136E"/>
                </a:solidFill>
                <a:latin typeface="Arial"/>
                <a:ea typeface="思源黑体 CN Bold"/>
              </a:rPr>
              <a:t>-4.6σ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8529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808088"/>
                </a:solidFill>
                <a:latin typeface="Arial"/>
                <a:ea typeface="思源黑体 CN Light"/>
              </a:rPr>
              <a:t>高频细节低于周边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84831"/>
            <a:ext cx="2542032" cy="123444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73368" y="2231136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53136E"/>
                </a:solidFill>
                <a:latin typeface="Arial"/>
                <a:ea typeface="思源黑体 CN Bold"/>
              </a:rPr>
              <a:t>21%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8529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808088"/>
                </a:solidFill>
                <a:latin typeface="Arial"/>
                <a:ea typeface="思源黑体 CN Light"/>
              </a:rPr>
              <a:t>ELA 重压缩误差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42248" y="2084831"/>
            <a:ext cx="2542032" cy="123444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43416" y="2231136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53136E"/>
                </a:solidFill>
                <a:latin typeface="Arial"/>
                <a:ea typeface="思源黑体 CN Bold"/>
              </a:rPr>
              <a:t>2–4s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8529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808088"/>
                </a:solidFill>
                <a:latin typeface="Arial"/>
                <a:ea typeface="思源黑体 CN Light"/>
              </a:rPr>
              <a:t>单次分析耗时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361188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7A2E9B"/>
                </a:solidFill>
                <a:latin typeface="Arial"/>
                <a:ea typeface="思源黑体 CN Bold"/>
              </a:rPr>
              <a:t>怎么算的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F3F3F"/>
                </a:solidFill>
                <a:latin typeface="Arial"/>
                <a:ea typeface="思源黑体 CN Light"/>
              </a:rPr>
              <a:t>ELA：重新压缩后与原图求差，篡改区因压缩历史不同而出现台阶。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F3F3F"/>
                </a:solidFill>
                <a:latin typeface="Arial"/>
                <a:ea typeface="思源黑体 CN Light"/>
              </a:rPr>
              <a:t>噪声残差：高通滤波后看块级方差，拼接会破坏传感器噪声的一致性。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F3F3F"/>
                </a:solidFill>
                <a:latin typeface="Arial"/>
                <a:ea typeface="思源黑体 CN Light"/>
              </a:rPr>
              <a:t>磨皮：Laplacian 方差在 log 域做稳健 z 分数，只看「比周边更平滑」。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611880"/>
            <a:ext cx="5120640" cy="1920240"/>
          </a:xfrm>
          <a:prstGeom prst="roundRect">
            <a:avLst>
              <a:gd name="adj" fmla="val 6000"/>
            </a:avLst>
          </a:prstGeom>
          <a:solidFill>
            <a:srgbClr val="FDF3F3"/>
          </a:solidFill>
          <a:ln w="11430">
            <a:solidFill>
              <a:srgbClr val="E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92240" y="37490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B02E2E"/>
                </a:solidFill>
                <a:latin typeface="Arial"/>
                <a:ea typeface="思源黑体 CN Bold"/>
              </a:rPr>
              <a:t>一个必须说清楚的问题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06908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3F3F3F"/>
                </a:solidFill>
                <a:latin typeface="Arial"/>
                <a:ea typeface="思源黑体 CN Light"/>
              </a:rPr>
              <a:t>开发中发现 ELA 的稳健 z 分数在中位数退化时会除以 1e-6，</a:t>
            </a:r>
          </a:p>
          <a:p>
            <a:pPr algn="l">
              <a:lnSpc>
                <a:spcPct val="145000"/>
              </a:lnSpc>
            </a:pPr>
            <a:r>
              <a:rPr sz="1150" b="0">
                <a:solidFill>
                  <a:srgbClr val="3F3F3F"/>
                </a:solidFill>
                <a:latin typeface="Arial"/>
                <a:ea typeface="思源黑体 CN Light"/>
              </a:rPr>
              <a:t>把亚灰阶波动放大成 z=876445，真实照片被误判成「重压缩台阶」。</a:t>
            </a:r>
          </a:p>
          <a:p>
            <a:pPr algn="l">
              <a:lnSpc>
                <a:spcPct val="145000"/>
              </a:lnSpc>
            </a:pPr>
            <a:r>
              <a:rPr sz="1150" b="0">
                <a:solidFill>
                  <a:srgbClr val="3F3F3F"/>
                </a:solidFill>
                <a:latin typeface="Arial"/>
                <a:ea typeface="思源黑体 CN Light"/>
              </a:rPr>
              <a:t>补上绝对幅度闸门后，指标如实回落——见第 12 页。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4754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7A2E9B"/>
                </a:solidFill>
                <a:latin typeface="Arial"/>
                <a:ea typeface="思源黑体 CN Bold"/>
              </a:rPr>
              <a:t>技术实现方式 ·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78638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3F3F3F"/>
                </a:solidFill>
                <a:latin typeface="Arial"/>
                <a:ea typeface="思源黑体 CN Bold"/>
              </a:rPr>
              <a:t>图文一致性：把「白三个度」换算成色差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4813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808088"/>
                </a:solidFill>
                <a:latin typeface="Arial"/>
                <a:ea typeface="思源黑体 CN Light"/>
              </a:rPr>
              <a:t>肤色转到 CIELAB 空间，与文案宣称直接对照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" y="2103120"/>
            <a:ext cx="3429000" cy="132588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06424" y="226771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1B6E4A"/>
                </a:solidFill>
                <a:latin typeface="Arial"/>
                <a:ea typeface="思源黑体 CN Bold"/>
              </a:rPr>
              <a:t>ΔE = 3.81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" y="290779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808088"/>
                </a:solidFill>
                <a:latin typeface="Arial"/>
                <a:ea typeface="思源黑体 CN Light"/>
              </a:rPr>
              <a:t>两张图实测色差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3984" y="2103120"/>
            <a:ext cx="3429000" cy="132588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718304" y="226771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808088"/>
                </a:solidFill>
                <a:latin typeface="Arial"/>
                <a:ea typeface="思源黑体 CN Bold"/>
              </a:rPr>
              <a:t>ΔE ≈ 10.5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8304" y="290779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808088"/>
                </a:solidFill>
                <a:latin typeface="Arial"/>
                <a:ea typeface="思源黑体 CN Light"/>
              </a:rPr>
              <a:t>文案宣称折算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5864" y="2103120"/>
            <a:ext cx="3429000" cy="132588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30184" y="226771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B02E2E"/>
                </a:solidFill>
                <a:latin typeface="Arial"/>
                <a:ea typeface="思源黑体 CN Bold"/>
              </a:rPr>
              <a:t>2.75 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184" y="290779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808088"/>
                </a:solidFill>
                <a:latin typeface="Arial"/>
                <a:ea typeface="思源黑体 CN Light"/>
              </a:rPr>
              <a:t>夸大倍数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657600"/>
            <a:ext cx="10561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1">
                <a:solidFill>
                  <a:srgbClr val="7A2E9B"/>
                </a:solidFill>
                <a:latin typeface="Arial"/>
                <a:ea typeface="思源黑体 CN Bold"/>
              </a:rPr>
              <a:t>实测：</a:t>
            </a:r>
            <a:r>
              <a:rPr sz="1250" b="0">
                <a:solidFill>
                  <a:srgbClr val="3F3F3F"/>
                </a:solidFill>
                <a:latin typeface="Arial"/>
                <a:ea typeface="思源黑体 CN Light"/>
              </a:rPr>
              <a:t>两图皮肤区域（YCbCr 肤色掩膜）平均 L*a*b* 距离。</a:t>
            </a:r>
          </a:p>
          <a:p>
            <a:pPr algn="l">
              <a:lnSpc>
                <a:spcPct val="155000"/>
              </a:lnSpc>
            </a:pPr>
            <a:r>
              <a:rPr sz="1300" b="1">
                <a:solidFill>
                  <a:srgbClr val="7A2E9B"/>
                </a:solidFill>
                <a:latin typeface="Arial"/>
                <a:ea typeface="思源黑体 CN Bold"/>
              </a:rPr>
              <a:t>宣称：</a:t>
            </a:r>
            <a:r>
              <a:rPr sz="1250" b="0">
                <a:solidFill>
                  <a:srgbClr val="3F3F3F"/>
                </a:solidFill>
                <a:latin typeface="Arial"/>
                <a:ea typeface="思源黑体 CN Light"/>
              </a:rPr>
              <a:t>从文案抽取「白 N 个度」，按 1 个色号 ≈ ΔE 3.5 折算。这个换算系数写在文档里，评委可以自己复算。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" y="4754880"/>
            <a:ext cx="5120640" cy="1097280"/>
          </a:xfrm>
          <a:prstGeom prst="roundRect">
            <a:avLst>
              <a:gd name="adj" fmla="val 6000"/>
            </a:avLst>
          </a:prstGeom>
          <a:solidFill>
            <a:srgbClr val="F2F9F5"/>
          </a:solidFill>
          <a:ln w="11430">
            <a:solidFill>
              <a:srgbClr val="B8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51560" y="489204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1B6E4A"/>
                </a:solidFill>
                <a:latin typeface="Arial"/>
                <a:ea typeface="思源黑体 CN Bold"/>
              </a:rPr>
              <a:t>对照组 · 真实测评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808088"/>
                </a:solidFill>
                <a:latin typeface="Arial"/>
                <a:ea typeface="思源黑体 CN Light"/>
              </a:rPr>
              <a:t>无局部修改、文案无夸大 → 一致性 0.00，整体 低风险 14/100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754880"/>
            <a:ext cx="5120640" cy="1097280"/>
          </a:xfrm>
          <a:prstGeom prst="roundRect">
            <a:avLst>
              <a:gd name="adj" fmla="val 6000"/>
            </a:avLst>
          </a:prstGeom>
          <a:solidFill>
            <a:srgbClr val="FDF3F3"/>
          </a:solidFill>
          <a:ln w="11430">
            <a:solidFill>
              <a:srgbClr val="E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92240" y="489204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B02E2E"/>
                </a:solidFill>
                <a:latin typeface="Arial"/>
                <a:ea typeface="思源黑体 CN Bold"/>
              </a:rPr>
              <a:t>实验组 · 高仿对比图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808088"/>
                </a:solidFill>
                <a:latin typeface="Arial"/>
                <a:ea typeface="思源黑体 CN Light"/>
              </a:rPr>
              <a:t>局部磨皮 + 提亮 + 拼接，宣称 3 个度 → 整体 高风险 87/100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4754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7A2E9B"/>
                </a:solidFill>
                <a:latin typeface="Arial"/>
                <a:ea typeface="思源黑体 CN Bold"/>
              </a:rPr>
              <a:t>技术实现方式 ·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78638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3F3F3F"/>
                </a:solidFill>
                <a:latin typeface="Arial"/>
                <a:ea typeface="思源黑体 CN Bold"/>
              </a:rPr>
              <a:t>评论区：不看单条评论，看「这批账号在做什么」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4813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808088"/>
                </a:solidFill>
                <a:latin typeface="Arial"/>
                <a:ea typeface="思源黑体 CN Light"/>
              </a:rPr>
              <a:t>12 条同一模板的评论，8 分钟内投放完毕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" y="2103120"/>
            <a:ext cx="2542032" cy="128016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2" y="2249424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53136E"/>
                </a:solidFill>
                <a:latin typeface="Arial"/>
                <a:ea typeface="思源黑体 CN Bold"/>
              </a:rPr>
              <a:t>12 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288950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808088"/>
                </a:solidFill>
                <a:latin typeface="Arial"/>
                <a:ea typeface="思源黑体 CN Light"/>
              </a:rPr>
              <a:t>同一模板的评论簇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2103120"/>
            <a:ext cx="2542032" cy="128016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03320" y="2249424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53136E"/>
                </a:solidFill>
                <a:latin typeface="Arial"/>
                <a:ea typeface="思源黑体 CN Bold"/>
              </a:rPr>
              <a:t>0.92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88950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808088"/>
                </a:solidFill>
                <a:latin typeface="Arial"/>
                <a:ea typeface="思源黑体 CN Light"/>
              </a:rPr>
              <a:t>簇内平均相似度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03120"/>
            <a:ext cx="2542032" cy="128016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73368" y="2249424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53136E"/>
                </a:solidFill>
                <a:latin typeface="Arial"/>
                <a:ea typeface="思源黑体 CN Bold"/>
              </a:rPr>
              <a:t>67%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88950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808088"/>
                </a:solidFill>
                <a:latin typeface="Arial"/>
                <a:ea typeface="思源黑体 CN Light"/>
              </a:rPr>
              <a:t>落在同一 10 分钟窗口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42248" y="2103120"/>
            <a:ext cx="2542032" cy="128016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43416" y="2249424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53136E"/>
                </a:solidFill>
                <a:latin typeface="Arial"/>
                <a:ea typeface="思源黑体 CN Bold"/>
              </a:rPr>
              <a:t>6 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88950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808088"/>
                </a:solidFill>
                <a:latin typeface="Arial"/>
                <a:ea typeface="思源黑体 CN Light"/>
              </a:rPr>
              <a:t>批量注册形态账号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3657600"/>
            <a:ext cx="52120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7A2E9B"/>
                </a:solidFill>
                <a:latin typeface="Arial"/>
                <a:ea typeface="思源黑体 CN Bold"/>
              </a:rPr>
              <a:t>三条线索互相印证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F3F3F"/>
                </a:solidFill>
                <a:latin typeface="Arial"/>
                <a:ea typeface="思源黑体 CN Light"/>
              </a:rPr>
              <a:t>文本：字符 3-gram Jaccard + DBSCAN 聚类，同一模板会被归成一簇。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F3F3F"/>
                </a:solidFill>
                <a:latin typeface="Arial"/>
                <a:ea typeface="思源黑体 CN Light"/>
              </a:rPr>
              <a:t>节奏：相邻间隔变异系数 + 10 分钟窗口占比，人不会这样发评论。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F3F3F"/>
                </a:solidFill>
                <a:latin typeface="Arial"/>
                <a:ea typeface="思源黑体 CN Light"/>
              </a:rPr>
              <a:t>账号：昵称字符熵 + 注册时间聚集度，批量注册有稳定形态。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657600"/>
            <a:ext cx="5120640" cy="1874519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 w="11430">
            <a:solidFill>
              <a:srgbClr val="D8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92240" y="3803904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7A2E9B"/>
                </a:solidFill>
                <a:latin typeface="Arial"/>
                <a:ea typeface="思源黑体 CN Bold"/>
              </a:rPr>
              <a:t>为什么判高风险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33087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3F3F3F"/>
                </a:solidFill>
                <a:latin typeface="Arial"/>
                <a:ea typeface="思源黑体 CN Light"/>
              </a:rPr>
              <a:t>模板簇 ≥5 条且相似度 ≥0.80，视为确证性证据，直接判高风险。</a:t>
            </a:r>
          </a:p>
          <a:p>
            <a:pPr algn="l">
              <a:lnSpc>
                <a:spcPct val="145000"/>
              </a:lnSpc>
            </a:pPr>
            <a:r>
              <a:rPr sz="1150" b="0">
                <a:solidFill>
                  <a:srgbClr val="3F3F3F"/>
                </a:solidFill>
                <a:latin typeface="Arial"/>
                <a:ea typeface="思源黑体 CN Light"/>
              </a:rPr>
              <a:t>只满足时间集中或账号异常其中一项时，最多判中风险。</a:t>
            </a:r>
          </a:p>
          <a:p>
            <a:pPr algn="l">
              <a:lnSpc>
                <a:spcPct val="145000"/>
              </a:lnSpc>
            </a:pPr>
            <a:r>
              <a:rPr sz="1150" b="0">
                <a:solidFill>
                  <a:srgbClr val="3F3F3F"/>
                </a:solidFill>
                <a:latin typeface="Arial"/>
                <a:ea typeface="思源黑体 CN Light"/>
              </a:rPr>
              <a:t>本次模板簇与投放节奏同时成立，且三路证据指向同一批账号。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4754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7A2E9B"/>
                </a:solidFill>
                <a:latin typeface="Arial"/>
                <a:ea typeface="思源黑体 CN Bold"/>
              </a:rPr>
              <a:t>技术实现方式 ·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78638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3F3F3F"/>
                </a:solidFill>
                <a:latin typeface="Arial"/>
                <a:ea typeface="思源黑体 CN Bold"/>
              </a:rPr>
              <a:t>合规规则：输出的不是概率，是能写进工单的条款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4813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808088"/>
                </a:solidFill>
                <a:latin typeface="Arial"/>
                <a:ea typeface="思源黑体 CN Light"/>
              </a:rPr>
              <a:t>确定性规则，零算力、零幻觉，却是「落地价值」最直接的论据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" y="2121408"/>
            <a:ext cx="10561320" cy="841248"/>
          </a:xfrm>
          <a:prstGeom prst="roundRect">
            <a:avLst>
              <a:gd name="adj" fmla="val 6000"/>
            </a:avLst>
          </a:prstGeom>
          <a:solidFill>
            <a:srgbClr val="FBF9FC"/>
          </a:solidFill>
          <a:ln w="11430">
            <a:solidFill>
              <a:srgbClr val="E2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22494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3F3F3F"/>
                </a:solidFill>
                <a:latin typeface="Arial"/>
                <a:ea typeface="思源黑体 CN Bold"/>
              </a:rPr>
              <a:t>绝对化用语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2494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53136E"/>
                </a:solidFill>
                <a:latin typeface="Arial"/>
                <a:ea typeface="思源黑体 CN Bold"/>
              </a:rPr>
              <a:t>「全网最低价」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0680" y="2231136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《广告法》第九条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231136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不得使用国家级、最高级、最佳等用语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" y="3054096"/>
            <a:ext cx="10561320" cy="841248"/>
          </a:xfrm>
          <a:prstGeom prst="roundRect">
            <a:avLst>
              <a:gd name="adj" fmla="val 6000"/>
            </a:avLst>
          </a:prstGeom>
          <a:solidFill>
            <a:srgbClr val="FBF9FC"/>
          </a:solidFill>
          <a:ln w="11430">
            <a:solidFill>
              <a:srgbClr val="E2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1560" y="31821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3F3F3F"/>
                </a:solidFill>
                <a:latin typeface="Arial"/>
                <a:ea typeface="思源黑体 CN Bold"/>
              </a:rPr>
              <a:t>特殊化妆品未标批号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1821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53136E"/>
                </a:solidFill>
                <a:latin typeface="Arial"/>
                <a:ea typeface="思源黑体 CN Bold"/>
              </a:rPr>
              <a:t>「美白」「祛斑」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3163824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《化妆品监督管理条例》第十六条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163824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须标注国妆特字注册编号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" y="3986783"/>
            <a:ext cx="10561320" cy="841248"/>
          </a:xfrm>
          <a:prstGeom prst="roundRect">
            <a:avLst>
              <a:gd name="adj" fmla="val 6000"/>
            </a:avLst>
          </a:prstGeom>
          <a:solidFill>
            <a:srgbClr val="FBF9FC"/>
          </a:solidFill>
          <a:ln w="11430">
            <a:solidFill>
              <a:srgbClr val="E2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51560" y="411479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3F3F3F"/>
                </a:solidFill>
                <a:latin typeface="Arial"/>
                <a:ea typeface="思源黑体 CN Bold"/>
              </a:rPr>
              <a:t>量化功效承诺缺乏依据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114799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53136E"/>
                </a:solidFill>
                <a:latin typeface="Arial"/>
                <a:ea typeface="思源黑体 CN Bold"/>
              </a:rPr>
              <a:t>「7 天白一个度」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4096511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《化妆品功效宣称评价规范》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096511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功效宣称应有评价依据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" y="4919471"/>
            <a:ext cx="10561320" cy="841248"/>
          </a:xfrm>
          <a:prstGeom prst="roundRect">
            <a:avLst>
              <a:gd name="adj" fmla="val 6000"/>
            </a:avLst>
          </a:prstGeom>
          <a:solidFill>
            <a:srgbClr val="FBF9FC"/>
          </a:solidFill>
          <a:ln w="11430">
            <a:solidFill>
              <a:srgbClr val="E2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51560" y="5047487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3F3F3F"/>
                </a:solidFill>
                <a:latin typeface="Arial"/>
                <a:ea typeface="思源黑体 CN Bold"/>
              </a:rPr>
              <a:t>宣称医疗作用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047487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53136E"/>
                </a:solidFill>
                <a:latin typeface="Arial"/>
                <a:ea typeface="思源黑体 CN Bold"/>
              </a:rPr>
              <a:t>「消炎」「药妆」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5029199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《化妆品监督管理条例》第四十三条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5029199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不得明示或暗示医疗作用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" y="5897880"/>
            <a:ext cx="10561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53136E"/>
                </a:solidFill>
                <a:latin typeface="Arial"/>
                <a:ea typeface="思源黑体 CN Bold"/>
              </a:rPr>
              <a:t>规则引擎和五维取证是互补的：取证回答「图有没有动过」，规则回答「这话能不能说」。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4754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7A2E9B"/>
                </a:solidFill>
                <a:latin typeface="Arial"/>
                <a:ea typeface="思源黑体 CN Bold"/>
              </a:rPr>
              <a:t>作品使用场景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78638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3F3F3F"/>
                </a:solidFill>
                <a:latin typeface="Arial"/>
                <a:ea typeface="思源黑体 CN Bold"/>
              </a:rPr>
              <a:t>种草图文核验：四维证据同时给出结论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4813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808088"/>
                </a:solidFill>
                <a:latin typeface="Arial"/>
                <a:ea typeface="思源黑体 CN Light"/>
              </a:rPr>
              <a:t>模拟平台审核员视角：上传 → 出证据 → 出等级 → 出处置建议</a:t>
            </a:r>
          </a:p>
        </p:txBody>
      </p:sp>
      <p:pic>
        <p:nvPicPr>
          <p:cNvPr id="5" name="Picture 4" descr="hi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975104"/>
            <a:ext cx="6720840" cy="3986784"/>
          </a:xfrm>
          <a:prstGeom prst="rect">
            <a:avLst/>
          </a:prstGeom>
          <a:ln w="9525">
            <a:solidFill>
              <a:srgbClr val="E2D8E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818120" y="1975104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7A2E9B"/>
                </a:solidFill>
                <a:latin typeface="Arial"/>
                <a:ea typeface="思源黑体 CN Bold"/>
              </a:rPr>
              <a:t>这一单为什么判 87 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359152"/>
            <a:ext cx="356616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像素层：</a:t>
            </a: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21% 区域噪声偏离、细节 -4.6σ，</a:t>
            </a: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两项信号同区互证 → 局部重绘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一致性：</a:t>
            </a: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宣称 3 个色号（ΔE≈10.5），</a:t>
            </a: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实测仅 3.81，夸大 2.75 倍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合规层：</a:t>
            </a: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命中 3 条广告法规</a:t>
            </a: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（绝对化用语、特妆未标批号、量化承诺）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55321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证据覆盖 100% · 耗时 3.4 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4754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7A2E9B"/>
                </a:solidFill>
                <a:latin typeface="Arial"/>
                <a:ea typeface="思源黑体 CN Bold"/>
              </a:rPr>
              <a:t>作品使用场景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78638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3F3F3F"/>
                </a:solidFill>
                <a:latin typeface="Arial"/>
                <a:ea typeface="思源黑体 CN Bold"/>
              </a:rPr>
              <a:t>评论区核验：把 18 条评论还原成「一次投放」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4813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808088"/>
                </a:solidFill>
                <a:latin typeface="Arial"/>
                <a:ea typeface="思源黑体 CN Light"/>
              </a:rPr>
              <a:t>粘贴评论（或导入 .txt/.md/.docx）→ 聚类 → 看节奏 → 定位账号</a:t>
            </a:r>
          </a:p>
        </p:txBody>
      </p:sp>
      <p:pic>
        <p:nvPicPr>
          <p:cNvPr id="5" name="Picture 4" descr="com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975104"/>
            <a:ext cx="6720840" cy="3986784"/>
          </a:xfrm>
          <a:prstGeom prst="rect">
            <a:avLst/>
          </a:prstGeom>
          <a:ln w="9525">
            <a:solidFill>
              <a:srgbClr val="E2D8E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818120" y="1975104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7A2E9B"/>
                </a:solidFill>
                <a:latin typeface="Arial"/>
                <a:ea typeface="思源黑体 CN Bold"/>
              </a:rPr>
              <a:t>三条线索指向同一批账号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359152"/>
            <a:ext cx="356616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文本：</a:t>
            </a: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12 条评论同一模板，</a:t>
            </a: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平均相似度 0.92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节奏：</a:t>
            </a: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67% 挤在同一 10 分钟窗口，</a:t>
            </a: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其余散在随后 14 小时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账号：</a:t>
            </a: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6 个昵称呈批量注册形态</a:t>
            </a: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（英文 + 数字后缀）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55321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结论：高风险 75/100，建议下架复核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4754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7A2E9B"/>
                </a:solidFill>
                <a:latin typeface="Arial"/>
                <a:ea typeface="思源黑体 CN Bold"/>
              </a:rPr>
              <a:t>作品使用场景 ·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78638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3F3F3F"/>
                </a:solidFill>
                <a:latin typeface="Arial"/>
                <a:ea typeface="思源黑体 CN Bold"/>
              </a:rPr>
              <a:t>AI 素材鉴伪：只有「成块的局部异常」才算证据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4813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808088"/>
                </a:solidFill>
                <a:latin typeface="Arial"/>
                <a:ea typeface="思源黑体 CN Light"/>
              </a:rPr>
              <a:t>整幅均匀的平滑不计入——这条规则把误报压了下来</a:t>
            </a:r>
          </a:p>
        </p:txBody>
      </p:sp>
      <p:pic>
        <p:nvPicPr>
          <p:cNvPr id="5" name="Picture 4" descr="mate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975104"/>
            <a:ext cx="6720840" cy="3986784"/>
          </a:xfrm>
          <a:prstGeom prst="rect">
            <a:avLst/>
          </a:prstGeom>
          <a:ln w="9525">
            <a:solidFill>
              <a:srgbClr val="E2D8E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818120" y="1975104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7A2E9B"/>
                </a:solidFill>
                <a:latin typeface="Arial"/>
                <a:ea typeface="思源黑体 CN Bold"/>
              </a:rPr>
              <a:t>单图怎么判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359152"/>
            <a:ext cx="35661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局部异常：</a:t>
            </a: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细节缺失 14%、噪声偏离 19%，</a:t>
            </a: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集中在一小块、周边保持原状 → 局部重绘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整图均匀：</a:t>
            </a: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平滑但不集中 → 不计入，</a:t>
            </a:r>
            <a:r>
              <a:rPr sz="1100" b="0">
                <a:solidFill>
                  <a:srgbClr val="3F3F3F"/>
                </a:solidFill>
                <a:latin typeface="Arial"/>
                <a:ea typeface="思源黑体 CN Light"/>
              </a:rPr>
              <a:t>该判低风险就判低风险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800600"/>
            <a:ext cx="3566160" cy="1188720"/>
          </a:xfrm>
          <a:prstGeom prst="roundRect">
            <a:avLst>
              <a:gd name="adj" fmla="val 6000"/>
            </a:avLst>
          </a:prstGeom>
          <a:solidFill>
            <a:srgbClr val="FDF3F3"/>
          </a:solidFill>
          <a:ln w="11430">
            <a:solidFill>
              <a:srgbClr val="E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01000" y="4919472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B02E2E"/>
                </a:solidFill>
                <a:latin typeface="Arial"/>
                <a:ea typeface="思源黑体 CN Bold"/>
              </a:rPr>
              <a:t>如实说明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3F3F3F"/>
                </a:solidFill>
                <a:latin typeface="Arial"/>
                <a:ea typeface="思源黑体 CN Light"/>
              </a:rPr>
              <a:t>该模块在自建 100 条集上未表现出区分度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3F3F3F"/>
                </a:solidFill>
                <a:latin typeface="Arial"/>
                <a:ea typeface="思源黑体 CN Light"/>
              </a:rPr>
              <a:t>（F1=0.00），当前定位为辅助筛查。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4754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7A2E9B"/>
                </a:solidFill>
                <a:latin typeface="Arial"/>
                <a:ea typeface="思源黑体 CN Bold"/>
              </a:rPr>
              <a:t>测试数据包与评测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78638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3F3F3F"/>
                </a:solidFill>
                <a:latin typeface="Arial"/>
                <a:ea typeface="思源黑体 CN Bold"/>
              </a:rPr>
              <a:t>测试数据包：100 条，三场景 × 四档难度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4813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808088"/>
                </a:solidFill>
                <a:latin typeface="Arial"/>
                <a:ea typeface="思源黑体 CN Light"/>
              </a:rPr>
              <a:t>赛题看的不只是跑分，而是这份数据本身经不经得起看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808088"/>
                </a:solidFill>
                <a:latin typeface="Arial"/>
                <a:ea typeface="思源黑体 CN Light"/>
              </a:rPr>
              <a:t>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10312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3F3F3F"/>
                </a:solidFill>
                <a:latin typeface="Arial"/>
                <a:ea typeface="思源黑体 CN Bold"/>
              </a:rPr>
              <a:t>种草 40　·　评论 30　·　素材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786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808088"/>
                </a:solidFill>
                <a:latin typeface="Arial"/>
                <a:ea typeface="思源黑体 CN Light"/>
              </a:rPr>
              <a:t>真伪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57860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3F3F3F"/>
                </a:solidFill>
                <a:latin typeface="Arial"/>
                <a:ea typeface="思源黑体 CN Bold"/>
              </a:rPr>
              <a:t>伪造 56　·　真实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540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808088"/>
                </a:solidFill>
                <a:latin typeface="Arial"/>
                <a:ea typeface="思源黑体 CN Light"/>
              </a:rPr>
              <a:t>难度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05409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3F3F3F"/>
                </a:solidFill>
                <a:latin typeface="Arial"/>
                <a:ea typeface="思源黑体 CN Bold"/>
              </a:rPr>
              <a:t>easy 17　·　medium 31　·　hard 8　·　real 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95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808088"/>
                </a:solidFill>
                <a:latin typeface="Arial"/>
                <a:ea typeface="思源黑体 CN Light"/>
              </a:rPr>
              <a:t>标注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52958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3F3F3F"/>
                </a:solidFill>
                <a:latin typeface="Arial"/>
                <a:ea typeface="思源黑体 CN Bold"/>
              </a:rPr>
              <a:t>24 张 mask.png（逐像素篡改区域）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F3F3F"/>
                </a:solidFill>
                <a:latin typeface="Arial"/>
                <a:ea typeface="思源黑体 CN Light"/>
              </a:rPr>
              <a:t>五类伪造手法：</a:t>
            </a:r>
            <a:r>
              <a:rPr sz="1050" b="0">
                <a:solidFill>
                  <a:srgbClr val="3F3F3F"/>
                </a:solidFill>
                <a:latin typeface="Arial"/>
                <a:ea typeface="思源黑体 CN Light"/>
              </a:rPr>
              <a:t>大面积磨皮+提亮 / 局部磨皮+拼接 / 轻度磨皮+拼接+重压缩 /</a:t>
            </a:r>
            <a:r>
              <a:rPr sz="1050" b="0">
                <a:solidFill>
                  <a:srgbClr val="3F3F3F"/>
                </a:solidFill>
                <a:latin typeface="Arial"/>
                <a:ea typeface="思源黑体 CN Light"/>
              </a:rPr>
              <a:t>重度平滑+色彩拉伸（模拟 AIGC 重绘）/ 模板化评论+集中投放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3F3F3F"/>
                </a:solidFill>
                <a:latin typeface="Arial"/>
                <a:ea typeface="思源黑体 CN Light"/>
              </a:rPr>
              <a:t>每条样本可复现：</a:t>
            </a:r>
            <a:r>
              <a:rPr sz="1050" b="0">
                <a:solidFill>
                  <a:srgbClr val="3F3F3F"/>
                </a:solidFill>
                <a:latin typeface="Arial"/>
                <a:ea typeface="思源黑体 CN Light"/>
              </a:rPr>
              <a:t>meta.txt 记录场景、真伪、难度、伪造方式；eval/run_eval.py 可重算全部指标。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03120"/>
            <a:ext cx="4983480" cy="141732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 w="11430">
            <a:solidFill>
              <a:srgbClr val="D8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0" y="221284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7A2E9B"/>
                </a:solidFill>
                <a:latin typeface="Arial"/>
                <a:ea typeface="思源黑体 CN Bold"/>
              </a:rPr>
              <a:t>自建 100 条集上的指标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53136E"/>
                </a:solidFill>
                <a:latin typeface="Arial"/>
                <a:ea typeface="思源黑体 CN Bold"/>
              </a:rPr>
              <a:t>P 0.84　R 0.46　F1 0.60　定位 IoU 0.32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808088"/>
                </a:solidFill>
                <a:latin typeface="Arial"/>
                <a:ea typeface="思源黑体 CN Light"/>
              </a:rPr>
              <a:t>分场景 F1：图文 0.59　评论 0.97　素材 0.00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657600"/>
            <a:ext cx="4983480" cy="1783080"/>
          </a:xfrm>
          <a:prstGeom prst="roundRect">
            <a:avLst>
              <a:gd name="adj" fmla="val 6000"/>
            </a:avLst>
          </a:prstGeom>
          <a:solidFill>
            <a:srgbClr val="FDF3F3"/>
          </a:solidFill>
          <a:ln w="11430">
            <a:solidFill>
              <a:srgbClr val="E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0" y="376732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B02E2E"/>
                </a:solidFill>
                <a:latin typeface="Arial"/>
                <a:ea typeface="思源黑体 CN Bold"/>
              </a:rPr>
              <a:t>一次如实记录的修复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069080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F3F3F"/>
                </a:solidFill>
                <a:latin typeface="Arial"/>
                <a:ea typeface="思源黑体 CN Light"/>
              </a:rPr>
              <a:t>早期 F1 是 0.69，其中素材场景的检出来自 ELA 的 z 分数退化（z=876445）。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3F3F3F"/>
                </a:solidFill>
                <a:latin typeface="Arial"/>
                <a:ea typeface="思源黑体 CN Light"/>
              </a:rPr>
              <a:t>补上绝对幅度闸门后回落到 0.60——数字不好看，但它是真的。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3F3F3F"/>
                </a:solidFill>
                <a:latin typeface="Arial"/>
                <a:ea typeface="思源黑体 CN Light"/>
              </a:rPr>
              <a:t>素材场景因此只作辅助筛查，不作为独立结论。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4754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7A2E9B"/>
                </a:solidFill>
                <a:latin typeface="Arial"/>
                <a:ea typeface="思源黑体 CN Bold"/>
              </a:rPr>
              <a:t>未来完善方向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78638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3F3F3F"/>
                </a:solidFill>
                <a:latin typeface="Arial"/>
                <a:ea typeface="思源黑体 CN Bold"/>
              </a:rPr>
              <a:t>三条线把这个 Demo 变成平台能用的审核工具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4813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808088"/>
                </a:solidFill>
                <a:latin typeface="Arial"/>
                <a:ea typeface="思源黑体 CN Light"/>
              </a:rPr>
              <a:t>先补检测能力，再扩场景，最后进工作流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" y="2103120"/>
            <a:ext cx="3429000" cy="251460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32104" y="2103120"/>
            <a:ext cx="3429000" cy="54864"/>
          </a:xfrm>
          <a:prstGeom prst="rect">
            <a:avLst/>
          </a:prstGeom>
          <a:solidFill>
            <a:srgbClr val="7A2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2677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7A2E9B"/>
                </a:solidFill>
                <a:latin typeface="Arial"/>
                <a:ea typeface="思源黑体 CN Bold"/>
              </a:rPr>
              <a:t>1–3 个月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54203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3F3F3F"/>
                </a:solidFill>
                <a:latin typeface="Arial"/>
                <a:ea typeface="思源黑体 CN Bold"/>
              </a:rPr>
              <a:t>检测能力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3017520"/>
            <a:ext cx="2971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808088"/>
                </a:solidFill>
                <a:latin typeface="Arial"/>
                <a:ea typeface="思源黑体 CN Light"/>
              </a:rPr>
              <a:t>· 接入开源预训练 AIGC 检测器做集成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808088"/>
                </a:solidFill>
                <a:latin typeface="Arial"/>
                <a:ea typeface="思源黑体 CN Light"/>
              </a:rPr>
              <a:t>· 引入 Qwen2.5-VL 做语义复核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808088"/>
                </a:solidFill>
                <a:latin typeface="Arial"/>
                <a:ea typeface="思源黑体 CN Light"/>
              </a:rPr>
              <a:t>· 用真实平台数据重新标定阈值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2103120"/>
            <a:ext cx="3429000" cy="251460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43984" y="2103120"/>
            <a:ext cx="3429000" cy="54864"/>
          </a:xfrm>
          <a:prstGeom prst="rect">
            <a:avLst/>
          </a:prstGeom>
          <a:solidFill>
            <a:srgbClr val="7A2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22677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7A2E9B"/>
                </a:solidFill>
                <a:latin typeface="Arial"/>
                <a:ea typeface="思源黑体 CN Bold"/>
              </a:rPr>
              <a:t>3–6 个月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54203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3F3F3F"/>
                </a:solidFill>
                <a:latin typeface="Arial"/>
                <a:ea typeface="思源黑体 CN Bold"/>
              </a:rPr>
              <a:t>场景扩展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3017520"/>
            <a:ext cx="2971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808088"/>
                </a:solidFill>
                <a:latin typeface="Arial"/>
                <a:ea typeface="思源黑体 CN Light"/>
              </a:rPr>
              <a:t>· 从美妆扩到母婴、保健品等功效宣称密集品类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808088"/>
                </a:solidFill>
                <a:latin typeface="Arial"/>
                <a:ea typeface="思源黑体 CN Light"/>
              </a:rPr>
              <a:t>· 从图文扩到短视频关键帧核验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808088"/>
                </a:solidFill>
                <a:latin typeface="Arial"/>
                <a:ea typeface="思源黑体 CN Light"/>
              </a:rPr>
              <a:t>· 接入品牌真实色号库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2103120"/>
            <a:ext cx="3429000" cy="2514600"/>
          </a:xfrm>
          <a:prstGeom prst="roundRect">
            <a:avLst>
              <a:gd name="adj" fmla="val 6000"/>
            </a:avLst>
          </a:prstGeom>
          <a:solidFill>
            <a:srgbClr val="F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55864" y="2103120"/>
            <a:ext cx="3429000" cy="54864"/>
          </a:xfrm>
          <a:prstGeom prst="rect">
            <a:avLst/>
          </a:prstGeom>
          <a:solidFill>
            <a:srgbClr val="7A2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2677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7A2E9B"/>
                </a:solidFill>
                <a:latin typeface="Arial"/>
                <a:ea typeface="思源黑体 CN Bold"/>
              </a:rPr>
              <a:t>6–12 个月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54203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3F3F3F"/>
                </a:solidFill>
                <a:latin typeface="Arial"/>
                <a:ea typeface="思源黑体 CN Bold"/>
              </a:rPr>
              <a:t>平台化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017520"/>
            <a:ext cx="2971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808088"/>
                </a:solidFill>
                <a:latin typeface="Arial"/>
                <a:ea typeface="思源黑体 CN Light"/>
              </a:rPr>
              <a:t>· 对接内容中台，做成审核工作流插件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808088"/>
                </a:solidFill>
                <a:latin typeface="Arial"/>
                <a:ea typeface="思源黑体 CN Light"/>
              </a:rPr>
              <a:t>· 证据包标准化，支持监管报送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808088"/>
                </a:solidFill>
                <a:latin typeface="Arial"/>
                <a:ea typeface="思源黑体 CN Light"/>
              </a:rPr>
              <a:t>· 申诉链路：创作者可自助复核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" y="4846320"/>
            <a:ext cx="10561320" cy="1097280"/>
          </a:xfrm>
          <a:prstGeom prst="roundRect">
            <a:avLst>
              <a:gd name="adj" fmla="val 6000"/>
            </a:avLst>
          </a:prstGeom>
          <a:solidFill>
            <a:srgbClr val="FBF7FD"/>
          </a:solidFill>
          <a:ln w="11430">
            <a:solidFill>
              <a:srgbClr val="E2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7A2E9B"/>
                </a:solidFill>
                <a:latin typeface="Arial"/>
                <a:ea typeface="思源黑体 CN Bold"/>
              </a:rPr>
              <a:t>现在就体验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808088"/>
                </a:solidFill>
                <a:latin typeface="Arial"/>
                <a:ea typeface="思源黑体 CN Light"/>
              </a:rPr>
              <a:t>在线演示（只读）：</a:t>
            </a:r>
            <a:r>
              <a:rPr sz="1150" b="1">
                <a:solidFill>
                  <a:srgbClr val="53136E"/>
                </a:solidFill>
                <a:latin typeface="Arial"/>
                <a:ea typeface="思源黑体 CN Bold"/>
              </a:rPr>
              <a:t>https://lulu520-1314.github.io/trust-shield/</a:t>
            </a:r>
            <a:r>
              <a:rPr sz="1150" b="0">
                <a:solidFill>
                  <a:srgbClr val="808088"/>
                </a:solidFill>
                <a:latin typeface="Arial"/>
                <a:ea typeface="思源黑体 CN Light"/>
              </a:rPr>
              <a:t>　　完整功能（可上传）：</a:t>
            </a:r>
            <a:r>
              <a:rPr sz="1150" b="1">
                <a:solidFill>
                  <a:srgbClr val="53136E"/>
                </a:solidFill>
                <a:latin typeface="Arial"/>
                <a:ea typeface="思源黑体 CN Bold"/>
              </a:rPr>
              <a:t>https://trust-shield-xxxx.onrender.com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808088"/>
                </a:solidFill>
                <a:latin typeface="Arial"/>
                <a:ea typeface="思源黑体 CN Light"/>
              </a:rPr>
              <a:t>代码仓库：</a:t>
            </a:r>
            <a:r>
              <a:rPr sz="1150" b="1">
                <a:solidFill>
                  <a:srgbClr val="53136E"/>
                </a:solidFill>
                <a:latin typeface="Arial"/>
                <a:ea typeface="思源黑体 CN Bold"/>
              </a:rPr>
              <a:t>https://github.com/lulu520-1314/trust-shield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WPS 演示</Application>
  <PresentationFormat>宽屏</PresentationFormat>
  <Paragraphs>15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思源黑体 CN Light</vt:lpstr>
      <vt:lpstr>思源黑体 CN Bold</vt:lpstr>
      <vt:lpstr>微软雅黑</vt:lpstr>
      <vt:lpstr>Arial Unicode MS</vt:lpstr>
      <vt:lpstr>等线 Light</vt:lpstr>
      <vt:lpstr>等线</vt:lpstr>
      <vt:lpstr>Office Theme</vt:lpstr>
      <vt:lpstr>PowerPoint 演示文稿</vt:lpstr>
      <vt:lpstr>PowerPoint 演示文稿</vt:lpstr>
      <vt:lpstr>PowerPoint 演示文稿</vt:lpstr>
    </vt:vector>
  </TitlesOfParts>
  <Company>LOREAL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ZONG Echo</dc:creator>
  <cp:lastModifiedBy>次鱼圆</cp:lastModifiedBy>
  <cp:revision>12</cp:revision>
  <dcterms:created xsi:type="dcterms:W3CDTF">2026-07-09T08:48:00Z</dcterms:created>
  <dcterms:modified xsi:type="dcterms:W3CDTF">2026-07-21T07:33:12Z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3b7177-c66c-4b22-a350-7ee86f9a1e74_Enabled">
    <vt:lpwstr>true</vt:lpwstr>
  </property>
  <property fmtid="{D5CDD505-2E9C-101B-9397-08002B2CF9AE}" pid="3" name="MSIP_Label_f43b7177-c66c-4b22-a350-7ee86f9a1e74_SetDate">
    <vt:lpwstr>2026-07-09T09:48:14Z</vt:lpwstr>
  </property>
  <property fmtid="{D5CDD505-2E9C-101B-9397-08002B2CF9AE}" pid="4" name="MSIP_Label_f43b7177-c66c-4b22-a350-7ee86f9a1e74_Method">
    <vt:lpwstr>Standard</vt:lpwstr>
  </property>
  <property fmtid="{D5CDD505-2E9C-101B-9397-08002B2CF9AE}" pid="5" name="MSIP_Label_f43b7177-c66c-4b22-a350-7ee86f9a1e74_Name">
    <vt:lpwstr>C1_Internal use</vt:lpwstr>
  </property>
  <property fmtid="{D5CDD505-2E9C-101B-9397-08002B2CF9AE}" pid="6" name="MSIP_Label_f43b7177-c66c-4b22-a350-7ee86f9a1e74_SiteId">
    <vt:lpwstr>e4e1abd9-eac7-4a71-ab52-da5c998aa7ba</vt:lpwstr>
  </property>
  <property fmtid="{D5CDD505-2E9C-101B-9397-08002B2CF9AE}" pid="7" name="MSIP_Label_f43b7177-c66c-4b22-a350-7ee86f9a1e74_ActionId">
    <vt:lpwstr>c71fc412-054f-4fbf-a9f7-cba62a6f36cf</vt:lpwstr>
  </property>
  <property fmtid="{D5CDD505-2E9C-101B-9397-08002B2CF9AE}" pid="8" name="MSIP_Label_f43b7177-c66c-4b22-a350-7ee86f9a1e74_ContentBits">
    <vt:lpwstr>2</vt:lpwstr>
  </property>
  <property fmtid="{D5CDD505-2E9C-101B-9397-08002B2CF9AE}" pid="9" name="MSIP_Label_f43b7177-c66c-4b22-a350-7ee86f9a1e74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C1 - Internal use</vt:lpwstr>
  </property>
  <property fmtid="{D5CDD505-2E9C-101B-9397-08002B2CF9AE}" pid="12" name="KSOProductBuildVer">
    <vt:lpwstr>2052-12.1.0.26381</vt:lpwstr>
  </property>
  <property fmtid="{D5CDD505-2E9C-101B-9397-08002B2CF9AE}" pid="13" name="ICV">
    <vt:lpwstr>30F01A577FCB47F4BE17C5D67A36E051_13</vt:lpwstr>
  </property>
</Properties>
</file>